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007578757" r:id="rId2"/>
    <p:sldId id="20075787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5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E3F8C-14EF-418A-B1FA-D7DA5BFC179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72DC8-947C-4FDA-8BCB-E91E60DB4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88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4DB08-9CFF-0D8F-7939-5EF3F8F7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44542-8744-5DFB-292F-3156A152A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95015F-090B-56D0-41F4-4B772DCEA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5BA21-06C9-E595-24AB-202E2AD09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DB02DA9-F637-CB4D-BC72-92066AEB9C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610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4DB08-9CFF-0D8F-7939-5EF3F8F7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44542-8744-5DFB-292F-3156A152A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95015F-090B-56D0-41F4-4B772DCEA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5BA21-06C9-E595-24AB-202E2AD09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02DA9-F637-CB4D-BC72-92066AEB9C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3667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91098" y="1606423"/>
            <a:ext cx="6457951" cy="2387600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91099" y="4167061"/>
            <a:ext cx="6457950" cy="1655762"/>
          </a:xfr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grpSp>
        <p:nvGrpSpPr>
          <p:cNvPr id="21" name="组合 20"/>
          <p:cNvGrpSpPr/>
          <p:nvPr userDrawn="1"/>
        </p:nvGrpSpPr>
        <p:grpSpPr>
          <a:xfrm>
            <a:off x="373622" y="387393"/>
            <a:ext cx="4310907" cy="4187333"/>
            <a:chOff x="674670" y="879967"/>
            <a:chExt cx="3325228" cy="3306562"/>
          </a:xfrm>
        </p:grpSpPr>
        <p:sp>
          <p:nvSpPr>
            <p:cNvPr id="7" name="PA_MH_Other_4"/>
            <p:cNvSpPr/>
            <p:nvPr userDrawn="1">
              <p:custDataLst>
                <p:tags r:id="rId5"/>
              </p:custDataLst>
            </p:nvPr>
          </p:nvSpPr>
          <p:spPr>
            <a:xfrm>
              <a:off x="2633208" y="1159725"/>
              <a:ext cx="468000" cy="46800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 w="15875">
              <a:noFill/>
            </a:ln>
            <a:effectLst>
              <a:outerShdw blurRad="50800" dist="254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522" tIns="50759" rIns="101522" bIns="50759" anchor="ctr"/>
            <a:lstStyle/>
            <a:p>
              <a:pPr algn="ctr"/>
              <a:endParaRPr 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8" name="PA_圆角淘宝网Chenying0907出品 7"/>
            <p:cNvSpPr/>
            <p:nvPr userDrawn="1">
              <p:custDataLst>
                <p:tags r:id="rId6"/>
              </p:custDataLst>
            </p:nvPr>
          </p:nvSpPr>
          <p:spPr>
            <a:xfrm>
              <a:off x="1960634" y="3862529"/>
              <a:ext cx="324000" cy="324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  <a:tileRect/>
            </a:gradFill>
            <a:ln w="95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4445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PA_圆角淘宝网Chenying0907出品 8"/>
            <p:cNvSpPr/>
            <p:nvPr userDrawn="1">
              <p:custDataLst>
                <p:tags r:id="rId7"/>
              </p:custDataLst>
            </p:nvPr>
          </p:nvSpPr>
          <p:spPr>
            <a:xfrm>
              <a:off x="2298685" y="879967"/>
              <a:ext cx="396000" cy="396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  <a:tileRect/>
            </a:gradFill>
            <a:ln w="95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4445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PA_MH_Other_4"/>
            <p:cNvSpPr/>
            <p:nvPr userDrawn="1">
              <p:custDataLst>
                <p:tags r:id="rId8"/>
              </p:custDataLst>
            </p:nvPr>
          </p:nvSpPr>
          <p:spPr>
            <a:xfrm>
              <a:off x="3171850" y="1679919"/>
              <a:ext cx="828048" cy="82804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8100000" scaled="0"/>
              <a:tileRect/>
            </a:gradFill>
            <a:ln w="15875">
              <a:noFill/>
            </a:ln>
            <a:effectLst>
              <a:outerShdw blurRad="50800" dist="254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522" tIns="50759" rIns="101522" bIns="50759" anchor="ctr"/>
            <a:lstStyle/>
            <a:p>
              <a:pPr algn="ctr"/>
              <a:endParaRPr 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11" name="PA_MH_Other_4"/>
            <p:cNvSpPr/>
            <p:nvPr userDrawn="1">
              <p:custDataLst>
                <p:tags r:id="rId9"/>
              </p:custDataLst>
            </p:nvPr>
          </p:nvSpPr>
          <p:spPr>
            <a:xfrm>
              <a:off x="1493618" y="3404976"/>
              <a:ext cx="416148" cy="416148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 w="15875">
              <a:noFill/>
            </a:ln>
            <a:effectLst>
              <a:outerShdw blurRad="50800" dist="254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522" tIns="50759" rIns="101522" bIns="50759" anchor="ctr"/>
            <a:lstStyle/>
            <a:p>
              <a:pPr algn="ctr"/>
              <a:endParaRPr 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12" name="PA_MH_Other_4"/>
            <p:cNvSpPr/>
            <p:nvPr userDrawn="1">
              <p:custDataLst>
                <p:tags r:id="rId10"/>
              </p:custDataLst>
            </p:nvPr>
          </p:nvSpPr>
          <p:spPr>
            <a:xfrm>
              <a:off x="1495138" y="1409205"/>
              <a:ext cx="684000" cy="6840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15875">
              <a:noFill/>
            </a:ln>
            <a:effectLst>
              <a:outerShdw blurRad="50800" dist="254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522" tIns="50759" rIns="101522" bIns="50759" anchor="ctr"/>
            <a:lstStyle/>
            <a:p>
              <a:pPr algn="ctr"/>
              <a:endParaRPr 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13" name="PA_MH_Other_4"/>
            <p:cNvSpPr/>
            <p:nvPr userDrawn="1">
              <p:custDataLst>
                <p:tags r:id="rId11"/>
              </p:custDataLst>
            </p:nvPr>
          </p:nvSpPr>
          <p:spPr>
            <a:xfrm>
              <a:off x="674670" y="2269109"/>
              <a:ext cx="761139" cy="76113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8100000" scaled="0"/>
              <a:tileRect/>
            </a:gradFill>
            <a:ln w="15875">
              <a:noFill/>
            </a:ln>
            <a:effectLst>
              <a:outerShdw blurRad="50800" dist="254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522" tIns="50759" rIns="101522" bIns="50759" anchor="ctr"/>
            <a:lstStyle/>
            <a:p>
              <a:pPr algn="ctr"/>
              <a:endParaRPr 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14" name="PA_对角圆角淘宝网Chenying0907出品 4"/>
            <p:cNvSpPr/>
            <p:nvPr userDrawn="1">
              <p:custDataLst>
                <p:tags r:id="rId12"/>
              </p:custDataLst>
            </p:nvPr>
          </p:nvSpPr>
          <p:spPr>
            <a:xfrm>
              <a:off x="1903471" y="1986898"/>
              <a:ext cx="1114706" cy="1042199"/>
            </a:xfrm>
            <a:prstGeom prst="round2DiagRect">
              <a:avLst>
                <a:gd name="adj1" fmla="val 0"/>
                <a:gd name="adj2" fmla="val 0"/>
              </a:avLst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  <a:tileRect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PA_淘宝网Chenying0907出品 5"/>
            <p:cNvSpPr txBox="1"/>
            <p:nvPr userDrawn="1">
              <p:custDataLst>
                <p:tags r:id="rId13"/>
              </p:custDataLst>
            </p:nvPr>
          </p:nvSpPr>
          <p:spPr>
            <a:xfrm>
              <a:off x="1912140" y="2277884"/>
              <a:ext cx="1082979" cy="1026829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chemeClr val="accent1"/>
                  </a:solidFill>
                  <a:latin typeface="Goudy Stout" panose="0202090407030B020401" pitchFamily="18" charset="0"/>
                </a:rPr>
                <a:t>TJ</a:t>
              </a:r>
              <a:endParaRPr lang="zh-CN" altLang="en-US" sz="4000" dirty="0">
                <a:solidFill>
                  <a:schemeClr val="accent1"/>
                </a:solidFill>
                <a:latin typeface="Goudy Stout" panose="0202090407030B020401" pitchFamily="18" charset="0"/>
              </a:endParaRPr>
            </a:p>
          </p:txBody>
        </p:sp>
        <p:sp>
          <p:nvSpPr>
            <p:cNvPr id="16" name="PA_圆角淘宝网Chenying0907出品 9"/>
            <p:cNvSpPr/>
            <p:nvPr userDrawn="1">
              <p:custDataLst>
                <p:tags r:id="rId14"/>
              </p:custDataLst>
            </p:nvPr>
          </p:nvSpPr>
          <p:spPr>
            <a:xfrm>
              <a:off x="1243138" y="1904910"/>
              <a:ext cx="504000" cy="504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  <a:tileRect/>
            </a:gradFill>
            <a:ln w="12700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4445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8656884" y="559464"/>
            <a:ext cx="1839665" cy="1313026"/>
            <a:chOff x="7685335" y="344324"/>
            <a:chExt cx="1427110" cy="1003321"/>
          </a:xfrm>
        </p:grpSpPr>
        <p:sp>
          <p:nvSpPr>
            <p:cNvPr id="17" name="PA_MH_Other_4"/>
            <p:cNvSpPr/>
            <p:nvPr userDrawn="1">
              <p:custDataLst>
                <p:tags r:id="rId1"/>
              </p:custDataLst>
            </p:nvPr>
          </p:nvSpPr>
          <p:spPr>
            <a:xfrm>
              <a:off x="8091549" y="479242"/>
              <a:ext cx="416148" cy="416148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 w="15875">
              <a:noFill/>
            </a:ln>
            <a:effectLst>
              <a:outerShdw blurRad="50800" dist="254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522" tIns="50759" rIns="101522" bIns="50759" anchor="ctr"/>
            <a:lstStyle/>
            <a:p>
              <a:pPr algn="ctr"/>
              <a:endParaRPr 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18" name="PA_MH_Other_4"/>
            <p:cNvSpPr/>
            <p:nvPr userDrawn="1">
              <p:custDataLst>
                <p:tags r:id="rId2"/>
              </p:custDataLst>
            </p:nvPr>
          </p:nvSpPr>
          <p:spPr>
            <a:xfrm>
              <a:off x="8581582" y="1075708"/>
              <a:ext cx="271937" cy="271937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15875">
              <a:noFill/>
            </a:ln>
            <a:effectLst>
              <a:outerShdw blurRad="50800" dist="254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522" tIns="50759" rIns="101522" bIns="50759" anchor="ctr"/>
            <a:lstStyle/>
            <a:p>
              <a:pPr algn="ctr"/>
              <a:endParaRPr 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19" name="PA_圆角淘宝网Chenying0907出品 47"/>
            <p:cNvSpPr/>
            <p:nvPr userDrawn="1">
              <p:custDataLst>
                <p:tags r:id="rId3"/>
              </p:custDataLst>
            </p:nvPr>
          </p:nvSpPr>
          <p:spPr>
            <a:xfrm>
              <a:off x="8788445" y="479242"/>
              <a:ext cx="324000" cy="324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  <a:tileRect/>
            </a:gradFill>
            <a:ln w="95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4445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PA_MH_Other_4"/>
            <p:cNvSpPr/>
            <p:nvPr userDrawn="1">
              <p:custDataLst>
                <p:tags r:id="rId4"/>
              </p:custDataLst>
            </p:nvPr>
          </p:nvSpPr>
          <p:spPr>
            <a:xfrm>
              <a:off x="7685335" y="344324"/>
              <a:ext cx="153681" cy="153681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15875">
              <a:noFill/>
            </a:ln>
            <a:effectLst>
              <a:outerShdw blurRad="50800" dist="254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522" tIns="50759" rIns="101522" bIns="50759" anchor="ctr"/>
            <a:lstStyle/>
            <a:p>
              <a:pPr algn="ctr"/>
              <a:endParaRPr lang="en-US">
                <a:solidFill>
                  <a:prstClr val="white"/>
                </a:solidFill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508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9598-6120-4236-B6F1-72B502AB372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4" name="直接连接符 3"/>
          <p:cNvCxnSpPr/>
          <p:nvPr userDrawn="1"/>
        </p:nvCxnSpPr>
        <p:spPr>
          <a:xfrm flipV="1">
            <a:off x="1270838" y="872083"/>
            <a:ext cx="10479237" cy="1"/>
          </a:xfrm>
          <a:prstGeom prst="line">
            <a:avLst/>
          </a:prstGeom>
          <a:ln w="1905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527435" y="331259"/>
            <a:ext cx="528000" cy="528000"/>
            <a:chOff x="406574" y="236732"/>
            <a:chExt cx="612048" cy="593261"/>
          </a:xfrm>
        </p:grpSpPr>
        <p:sp>
          <p:nvSpPr>
            <p:cNvPr id="7" name="矩形 6"/>
            <p:cNvSpPr/>
            <p:nvPr userDrawn="1"/>
          </p:nvSpPr>
          <p:spPr>
            <a:xfrm>
              <a:off x="406574" y="236732"/>
              <a:ext cx="504000" cy="504000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694606" y="512239"/>
              <a:ext cx="324016" cy="3177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9304" y="964351"/>
            <a:ext cx="10047514" cy="5210646"/>
          </a:xfrm>
        </p:spPr>
        <p:txBody>
          <a:bodyPr/>
          <a:lstStyle>
            <a:lvl1pPr marL="628650" indent="-628650">
              <a:buFont typeface="Wingdings" panose="05000000000000000000" pitchFamily="2" charset="2"/>
              <a:buChar char="p"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95350" indent="-438150"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209304" y="356659"/>
            <a:ext cx="6038825" cy="440676"/>
          </a:xfrm>
        </p:spPr>
        <p:txBody>
          <a:bodyPr vert="horz" lIns="68580" tIns="34290" rIns="68580" bIns="34290" rtlCol="0" anchor="ctr">
            <a:noAutofit/>
          </a:bodyPr>
          <a:lstStyle>
            <a:lvl1pPr algn="l">
              <a:defRPr lang="zh-CN" altLang="en-US" sz="3200" b="1" i="0" baseline="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685800">
              <a:lnSpc>
                <a:spcPct val="90000"/>
              </a:lnSpc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87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683305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957944"/>
            <a:ext cx="10515600" cy="5214258"/>
          </a:xfrm>
        </p:spPr>
        <p:txBody>
          <a:bodyPr/>
          <a:lstStyle>
            <a:lvl1pPr marL="628650" indent="-628650">
              <a:buFont typeface="Wingdings" panose="05000000000000000000" pitchFamily="2" charset="2"/>
              <a:buChar char="p"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95350" indent="-438150"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9598-6120-4236-B6F1-72B502AB3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43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683305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306286" y="1582056"/>
            <a:ext cx="10047514" cy="4590145"/>
          </a:xfrm>
        </p:spPr>
        <p:txBody>
          <a:bodyPr/>
          <a:lstStyle>
            <a:lvl1pPr marL="628650" indent="-628650">
              <a:buFont typeface="Wingdings" panose="05000000000000000000" pitchFamily="2" charset="2"/>
              <a:buChar char="p"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95350" indent="-438150"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9598-6120-4236-B6F1-72B502AB3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93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9598-6120-4236-B6F1-72B502AB372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683305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838200" y="1103088"/>
            <a:ext cx="10515600" cy="5370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838200" y="3729719"/>
            <a:ext cx="10515600" cy="5370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0874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9598-6120-4236-B6F1-72B502AB372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683305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85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63344"/>
            <a:ext cx="2844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5587" y="6363344"/>
            <a:ext cx="3860800" cy="365125"/>
          </a:xfrm>
        </p:spPr>
        <p:txBody>
          <a:bodyPr vert="horz" lIns="76618" tIns="38309" rIns="76618" bIns="38309" rtlCol="0" anchor="ctr"/>
          <a:lstStyle>
            <a:lvl1pPr>
              <a:defRPr lang="en-US" altLang="zh-CN" smtClean="0">
                <a:solidFill>
                  <a:prstClr val="white">
                    <a:lumMod val="65000"/>
                  </a:prstClr>
                </a:solidFill>
                <a:latin typeface="Calibri" panose="020F0502020204030204"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64764" y="6351789"/>
            <a:ext cx="1850728" cy="376667"/>
          </a:xfrm>
        </p:spPr>
        <p:txBody>
          <a:bodyPr vert="horz" lIns="102156" tIns="51076" rIns="102156" bIns="51076" rtlCol="0" anchor="ctr"/>
          <a:lstStyle>
            <a:lvl1pPr algn="r">
              <a:defRPr lang="zh-CN" altLang="en-US" smtClean="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5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_MH_Other_4"/>
          <p:cNvSpPr/>
          <p:nvPr userDrawn="1">
            <p:custDataLst>
              <p:tags r:id="rId1"/>
            </p:custDataLst>
          </p:nvPr>
        </p:nvSpPr>
        <p:spPr>
          <a:xfrm>
            <a:off x="4737330" y="4584431"/>
            <a:ext cx="606727" cy="59266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522" tIns="50759" rIns="101522" bIns="50759" anchor="ctr"/>
          <a:lstStyle/>
          <a:p>
            <a:pPr algn="ctr"/>
            <a:endParaRPr lang="en-US">
              <a:solidFill>
                <a:prstClr val="white"/>
              </a:solidFill>
              <a:sym typeface="+mn-lt"/>
            </a:endParaRPr>
          </a:p>
        </p:txBody>
      </p:sp>
      <p:sp>
        <p:nvSpPr>
          <p:cNvPr id="9" name="PA_MH_Other_4"/>
          <p:cNvSpPr/>
          <p:nvPr userDrawn="1">
            <p:custDataLst>
              <p:tags r:id="rId2"/>
            </p:custDataLst>
          </p:nvPr>
        </p:nvSpPr>
        <p:spPr>
          <a:xfrm>
            <a:off x="9707026" y="2336800"/>
            <a:ext cx="1367373" cy="1269067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8100000" scaled="0"/>
            <a:tileRect/>
          </a:gra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522" tIns="50759" rIns="101522" bIns="50759" anchor="ctr"/>
          <a:lstStyle/>
          <a:p>
            <a:pPr algn="ctr"/>
            <a:endParaRPr lang="en-US">
              <a:solidFill>
                <a:prstClr val="white"/>
              </a:solidFill>
              <a:sym typeface="+mn-lt"/>
            </a:endParaRPr>
          </a:p>
        </p:txBody>
      </p:sp>
      <p:sp>
        <p:nvSpPr>
          <p:cNvPr id="10" name="PA_MH_Other_4"/>
          <p:cNvSpPr/>
          <p:nvPr userDrawn="1">
            <p:custDataLst>
              <p:tags r:id="rId3"/>
            </p:custDataLst>
          </p:nvPr>
        </p:nvSpPr>
        <p:spPr>
          <a:xfrm>
            <a:off x="2358112" y="1041159"/>
            <a:ext cx="539504" cy="526998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522" tIns="50759" rIns="101522" bIns="50759" anchor="ctr"/>
          <a:lstStyle/>
          <a:p>
            <a:pPr algn="ctr"/>
            <a:endParaRPr lang="en-US">
              <a:solidFill>
                <a:prstClr val="white"/>
              </a:solidFill>
              <a:sym typeface="+mn-lt"/>
            </a:endParaRPr>
          </a:p>
        </p:txBody>
      </p:sp>
      <p:sp>
        <p:nvSpPr>
          <p:cNvPr id="11" name="PA_MH_Other_4"/>
          <p:cNvSpPr/>
          <p:nvPr userDrawn="1">
            <p:custDataLst>
              <p:tags r:id="rId4"/>
            </p:custDataLst>
          </p:nvPr>
        </p:nvSpPr>
        <p:spPr>
          <a:xfrm>
            <a:off x="1620413" y="1604660"/>
            <a:ext cx="2951587" cy="273334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522" tIns="50759" rIns="101522" bIns="50759" anchor="ctr"/>
          <a:lstStyle/>
          <a:p>
            <a:pPr algn="ctr"/>
            <a:endParaRPr lang="en-US">
              <a:solidFill>
                <a:prstClr val="white"/>
              </a:solidFill>
              <a:sym typeface="+mn-lt"/>
            </a:endParaRPr>
          </a:p>
        </p:txBody>
      </p:sp>
      <p:sp>
        <p:nvSpPr>
          <p:cNvPr id="12" name="PA_MH_Other_4"/>
          <p:cNvSpPr/>
          <p:nvPr userDrawn="1">
            <p:custDataLst>
              <p:tags r:id="rId5"/>
            </p:custDataLst>
          </p:nvPr>
        </p:nvSpPr>
        <p:spPr>
          <a:xfrm>
            <a:off x="3913529" y="3942934"/>
            <a:ext cx="986759" cy="963884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8100000" scaled="0"/>
            <a:tileRect/>
          </a:gra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522" tIns="50759" rIns="101522" bIns="50759" anchor="ctr"/>
          <a:lstStyle/>
          <a:p>
            <a:pPr algn="ctr"/>
            <a:endParaRPr lang="en-US">
              <a:solidFill>
                <a:prstClr val="white"/>
              </a:solidFill>
              <a:sym typeface="+mn-lt"/>
            </a:endParaRPr>
          </a:p>
        </p:txBody>
      </p:sp>
      <p:sp>
        <p:nvSpPr>
          <p:cNvPr id="13" name="PA_对角圆角淘宝网Chenying0907出品 4"/>
          <p:cNvSpPr/>
          <p:nvPr userDrawn="1">
            <p:custDataLst>
              <p:tags r:id="rId6"/>
            </p:custDataLst>
          </p:nvPr>
        </p:nvSpPr>
        <p:spPr>
          <a:xfrm>
            <a:off x="1991949" y="1994363"/>
            <a:ext cx="1193703" cy="1201672"/>
          </a:xfrm>
          <a:prstGeom prst="round2DiagRect">
            <a:avLst>
              <a:gd name="adj1" fmla="val 0"/>
              <a:gd name="adj2" fmla="val 0"/>
            </a:avLst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w="222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PA_圆角淘宝网Chenying0907出品 9"/>
          <p:cNvSpPr/>
          <p:nvPr userDrawn="1">
            <p:custDataLst>
              <p:tags r:id="rId7"/>
            </p:custDataLst>
          </p:nvPr>
        </p:nvSpPr>
        <p:spPr>
          <a:xfrm>
            <a:off x="1200049" y="1209070"/>
            <a:ext cx="653398" cy="638251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w="12700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PA_圆角淘宝网Chenying0907出品 8"/>
          <p:cNvSpPr/>
          <p:nvPr userDrawn="1">
            <p:custDataLst>
              <p:tags r:id="rId8"/>
            </p:custDataLst>
          </p:nvPr>
        </p:nvSpPr>
        <p:spPr>
          <a:xfrm>
            <a:off x="9355655" y="3196035"/>
            <a:ext cx="608065" cy="570405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w="95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PA_MH_Other_4"/>
          <p:cNvSpPr/>
          <p:nvPr userDrawn="1">
            <p:custDataLst>
              <p:tags r:id="rId9"/>
            </p:custDataLst>
          </p:nvPr>
        </p:nvSpPr>
        <p:spPr>
          <a:xfrm>
            <a:off x="8590615" y="1634915"/>
            <a:ext cx="886754" cy="86619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522" tIns="50759" rIns="101522" bIns="50759" anchor="ctr"/>
          <a:lstStyle/>
          <a:p>
            <a:pPr algn="ctr"/>
            <a:endParaRPr lang="en-US">
              <a:solidFill>
                <a:prstClr val="white"/>
              </a:solidFill>
              <a:sym typeface="+mn-lt"/>
            </a:endParaRPr>
          </a:p>
        </p:txBody>
      </p:sp>
      <p:sp>
        <p:nvSpPr>
          <p:cNvPr id="18" name="PA_MH_Other_4"/>
          <p:cNvSpPr/>
          <p:nvPr userDrawn="1">
            <p:custDataLst>
              <p:tags r:id="rId10"/>
            </p:custDataLst>
          </p:nvPr>
        </p:nvSpPr>
        <p:spPr>
          <a:xfrm>
            <a:off x="10020300" y="3942934"/>
            <a:ext cx="481446" cy="481942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8100000" scaled="0"/>
            <a:tileRect/>
          </a:gra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522" tIns="50759" rIns="101522" bIns="50759" anchor="ctr"/>
          <a:lstStyle/>
          <a:p>
            <a:pPr algn="ctr"/>
            <a:endParaRPr lang="en-US">
              <a:solidFill>
                <a:prstClr val="white"/>
              </a:solidFill>
              <a:sym typeface="+mn-lt"/>
            </a:endParaRPr>
          </a:p>
        </p:txBody>
      </p:sp>
      <p:sp>
        <p:nvSpPr>
          <p:cNvPr id="7" name="PA_圆角淘宝网Chenying0907出品 7"/>
          <p:cNvSpPr/>
          <p:nvPr userDrawn="1">
            <p:custDataLst>
              <p:tags r:id="rId11"/>
            </p:custDataLst>
          </p:nvPr>
        </p:nvSpPr>
        <p:spPr>
          <a:xfrm>
            <a:off x="990600" y="3686087"/>
            <a:ext cx="1147896" cy="1041622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w="95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87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 flipV="1">
            <a:off x="1270001" y="872067"/>
            <a:ext cx="10479617" cy="0"/>
          </a:xfrm>
          <a:prstGeom prst="line">
            <a:avLst/>
          </a:prstGeom>
          <a:ln w="158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组合 8"/>
          <p:cNvGrpSpPr/>
          <p:nvPr/>
        </p:nvGrpSpPr>
        <p:grpSpPr bwMode="auto">
          <a:xfrm>
            <a:off x="527051" y="332318"/>
            <a:ext cx="529167" cy="527049"/>
            <a:chOff x="406574" y="236732"/>
            <a:chExt cx="612048" cy="593261"/>
          </a:xfrm>
        </p:grpSpPr>
        <p:sp>
          <p:nvSpPr>
            <p:cNvPr id="5" name="矩形 4"/>
            <p:cNvSpPr/>
            <p:nvPr userDrawn="1"/>
          </p:nvSpPr>
          <p:spPr>
            <a:xfrm>
              <a:off x="406574" y="236732"/>
              <a:ext cx="504328" cy="505106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695461" y="513111"/>
              <a:ext cx="323161" cy="3168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grpSp>
        <p:nvGrpSpPr>
          <p:cNvPr id="7" name="组合 11"/>
          <p:cNvGrpSpPr/>
          <p:nvPr userDrawn="1"/>
        </p:nvGrpSpPr>
        <p:grpSpPr bwMode="auto">
          <a:xfrm>
            <a:off x="8591551" y="273051"/>
            <a:ext cx="3289300" cy="530567"/>
            <a:chOff x="6626654" y="213001"/>
            <a:chExt cx="2265587" cy="398763"/>
          </a:xfrm>
        </p:grpSpPr>
        <p:grpSp>
          <p:nvGrpSpPr>
            <p:cNvPr id="8" name="组合 13"/>
            <p:cNvGrpSpPr/>
            <p:nvPr userDrawn="1"/>
          </p:nvGrpSpPr>
          <p:grpSpPr bwMode="auto">
            <a:xfrm>
              <a:off x="6986194" y="213001"/>
              <a:ext cx="1906047" cy="398763"/>
              <a:chOff x="3614083" y="408527"/>
              <a:chExt cx="1319430" cy="588853"/>
            </a:xfrm>
          </p:grpSpPr>
          <p:sp>
            <p:nvSpPr>
              <p:cNvPr id="10" name="TextBox 18"/>
              <p:cNvSpPr txBox="1">
                <a:spLocks noChangeArrowheads="1"/>
              </p:cNvSpPr>
              <p:nvPr/>
            </p:nvSpPr>
            <p:spPr bwMode="auto">
              <a:xfrm>
                <a:off x="3614083" y="408527"/>
                <a:ext cx="1319430" cy="3757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/>
                <a:r>
                  <a:rPr lang="zh-CN" altLang="en-US" sz="1600" b="1">
                    <a:solidFill>
                      <a:srgbClr val="595959"/>
                    </a:solidFill>
                  </a:rPr>
                  <a:t>公安部交通管理科学研究所</a:t>
                </a:r>
              </a:p>
            </p:txBody>
          </p:sp>
          <p:sp>
            <p:nvSpPr>
              <p:cNvPr id="11" name="TextBox 19"/>
              <p:cNvSpPr txBox="1"/>
              <p:nvPr userDrawn="1"/>
            </p:nvSpPr>
            <p:spPr>
              <a:xfrm>
                <a:off x="3746679" y="746811"/>
                <a:ext cx="1136373" cy="25056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86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+mn-ea"/>
                    <a:cs typeface="Arial" panose="020B0604020202020204" pitchFamily="34" charset="0"/>
                  </a:rPr>
                  <a:t>Traffic Management Research Institute</a:t>
                </a:r>
                <a:endParaRPr lang="zh-CN" altLang="en-US" sz="865" b="1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+mn-ea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9" name="图片 14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6654" y="230926"/>
              <a:ext cx="423773" cy="376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9304" y="356659"/>
            <a:ext cx="6038825" cy="440676"/>
          </a:xfrm>
        </p:spPr>
        <p:txBody>
          <a:bodyPr lIns="68580" tIns="34290" rIns="68580" bIns="34290" rtlCol="0">
            <a:noAutofit/>
          </a:bodyPr>
          <a:lstStyle>
            <a:lvl1pPr algn="l">
              <a:defRPr lang="zh-CN" altLang="en-US" sz="2935" b="0" i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018BB-792D-45DB-8A20-0F8332706B88}" type="datetimeFigureOut">
              <a:rPr lang="zh-CN" altLang="en-US"/>
              <a:t>2026/7/20</a:t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88100"/>
            <a:ext cx="3860800" cy="36406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935634" y="6383867"/>
            <a:ext cx="1631951" cy="406400"/>
          </a:xfrm>
        </p:spPr>
        <p:txBody>
          <a:bodyPr/>
          <a:lstStyle>
            <a:lvl1pPr algn="ctr">
              <a:defRPr sz="1865">
                <a:latin typeface="Impact" panose="020B0806030902050204" pitchFamily="34" charset="0"/>
              </a:defRPr>
            </a:lvl1pPr>
          </a:lstStyle>
          <a:p>
            <a:fld id="{8430563D-AAB2-41F8-A668-A608C005978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60055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121837" y="513023"/>
            <a:ext cx="7675033" cy="650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85" tIns="47843" rIns="95685" bIns="47843" anchor="b">
            <a:spAutoFit/>
          </a:bodyPr>
          <a:lstStyle/>
          <a:p>
            <a:br>
              <a:rPr kumimoji="0" lang="en-US" altLang="zh-CN" sz="1800" b="0" dirty="0">
                <a:ea typeface="宋体" panose="02010600030101010101" pitchFamily="2" charset="-122"/>
              </a:rPr>
            </a:br>
            <a:endParaRPr kumimoji="0" lang="zh-CN" altLang="en-US" sz="1800" b="0">
              <a:ea typeface="宋体" panose="02010600030101010101" pitchFamily="2" charset="-122"/>
            </a:endParaRPr>
          </a:p>
        </p:txBody>
      </p:sp>
      <p:pic>
        <p:nvPicPr>
          <p:cNvPr id="16" name="Picture 6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" y="1"/>
            <a:ext cx="2146849" cy="216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3"/>
          <p:cNvPicPr>
            <a:picLocks noChangeAspect="1" noChangeArrowheads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9717"/>
          <a:stretch>
            <a:fillRect/>
          </a:stretch>
        </p:blipFill>
        <p:spPr bwMode="auto">
          <a:xfrm>
            <a:off x="1295470" y="44629"/>
            <a:ext cx="1691949" cy="568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 userDrawn="1"/>
        </p:nvSpPr>
        <p:spPr bwMode="auto">
          <a:xfrm>
            <a:off x="-19000" y="0"/>
            <a:ext cx="3108650" cy="2878884"/>
          </a:xfrm>
          <a:prstGeom prst="rect">
            <a:avLst/>
          </a:prstGeom>
          <a:solidFill>
            <a:schemeClr val="bg1">
              <a:alpha val="68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" name="图片 10"/>
          <p:cNvPicPr/>
          <p:nvPr userDrawn="1"/>
        </p:nvPicPr>
        <p:blipFill rotWithShape="1">
          <a:blip r:embed="rId4" cstate="screen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1"/>
          <a:stretch>
            <a:fillRect/>
          </a:stretch>
        </p:blipFill>
        <p:spPr>
          <a:xfrm>
            <a:off x="9879183" y="48522"/>
            <a:ext cx="2300358" cy="230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2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98032" y="6484447"/>
            <a:ext cx="5939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BFC4C96-1F58-4F4B-AE50-3D13E502204C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660400"/>
          </a:xfrm>
          <a:prstGeom prst="rect">
            <a:avLst/>
          </a:prstGeom>
          <a:gradFill>
            <a:gsLst>
              <a:gs pos="47000">
                <a:srgbClr val="F5F8FF">
                  <a:alpha val="97000"/>
                </a:srgbClr>
              </a:gs>
              <a:gs pos="9000">
                <a:srgbClr val="9CB4EC"/>
              </a:gs>
              <a:gs pos="20000">
                <a:srgbClr val="DAE6FE">
                  <a:alpha val="95000"/>
                </a:srgbClr>
              </a:gs>
              <a:gs pos="100000">
                <a:schemeClr val="bg1"/>
              </a:gs>
              <a:gs pos="3000">
                <a:srgbClr val="0E41C2">
                  <a:alpha val="80000"/>
                </a:srgbClr>
              </a:gs>
              <a:gs pos="0">
                <a:srgbClr val="022D86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660400"/>
            <a:ext cx="12192000" cy="0"/>
          </a:xfrm>
          <a:prstGeom prst="line">
            <a:avLst/>
          </a:prstGeom>
          <a:ln>
            <a:gradFill>
              <a:gsLst>
                <a:gs pos="71000">
                  <a:srgbClr val="627CAC"/>
                </a:gs>
                <a:gs pos="0">
                  <a:srgbClr val="E1E8F5"/>
                </a:gs>
                <a:gs pos="26000">
                  <a:schemeClr val="accent1">
                    <a:lumMod val="45000"/>
                    <a:lumOff val="55000"/>
                  </a:schemeClr>
                </a:gs>
                <a:gs pos="55000">
                  <a:schemeClr val="accent1">
                    <a:lumMod val="45000"/>
                    <a:lumOff val="55000"/>
                  </a:schemeClr>
                </a:gs>
                <a:gs pos="100000">
                  <a:srgbClr val="00206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449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Venn diagram">
            <a:extLst>
              <a:ext uri="{FF2B5EF4-FFF2-40B4-BE49-F238E27FC236}">
                <a16:creationId xmlns:a16="http://schemas.microsoft.com/office/drawing/2014/main" id="{7F2DE526-ED47-8E31-F09C-C2AB9278D3A8}"/>
              </a:ext>
            </a:extLst>
          </p:cNvPr>
          <p:cNvSpPr txBox="1"/>
          <p:nvPr userDrawn="1"/>
        </p:nvSpPr>
        <p:spPr>
          <a:xfrm>
            <a:off x="266938" y="262454"/>
            <a:ext cx="1869744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ctr"/>
            <a:endParaRPr sz="2000" dirty="0">
              <a:solidFill>
                <a:schemeClr val="bg1"/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3" name="Freeform 355">
            <a:extLst>
              <a:ext uri="{FF2B5EF4-FFF2-40B4-BE49-F238E27FC236}">
                <a16:creationId xmlns:a16="http://schemas.microsoft.com/office/drawing/2014/main" id="{8A4B6228-34C1-4EED-0B75-582B0031D9EF}"/>
              </a:ext>
            </a:extLst>
          </p:cNvPr>
          <p:cNvSpPr/>
          <p:nvPr userDrawn="1"/>
        </p:nvSpPr>
        <p:spPr>
          <a:xfrm rot="2700000" flipV="1">
            <a:off x="342270" y="6638873"/>
            <a:ext cx="66079" cy="906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32" y="13021"/>
                </a:moveTo>
                <a:lnTo>
                  <a:pt x="11484" y="19690"/>
                </a:lnTo>
                <a:lnTo>
                  <a:pt x="11484" y="0"/>
                </a:lnTo>
                <a:lnTo>
                  <a:pt x="10115" y="0"/>
                </a:lnTo>
                <a:lnTo>
                  <a:pt x="10115" y="19690"/>
                </a:lnTo>
                <a:lnTo>
                  <a:pt x="968" y="13021"/>
                </a:lnTo>
                <a:lnTo>
                  <a:pt x="0" y="13727"/>
                </a:lnTo>
                <a:lnTo>
                  <a:pt x="10800" y="21600"/>
                </a:lnTo>
                <a:lnTo>
                  <a:pt x="21600" y="13727"/>
                </a:lnTo>
                <a:close/>
              </a:path>
            </a:pathLst>
          </a:custGeom>
          <a:solidFill>
            <a:schemeClr val="accent4"/>
          </a:solidFill>
          <a:ln w="3175">
            <a:solidFill>
              <a:schemeClr val="tx1">
                <a:lumMod val="85000"/>
                <a:lumOff val="15000"/>
              </a:schemeClr>
            </a:solidFill>
            <a:miter lim="400000"/>
          </a:ln>
        </p:spPr>
        <p:txBody>
          <a:bodyPr lIns="22860" rIns="22860" anchor="ctr"/>
          <a:lstStyle/>
          <a:p>
            <a:pPr algn="l" defTabSz="457200">
              <a:defRPr sz="1800"/>
            </a:pPr>
            <a:endParaRPr sz="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文本占位符 23">
            <a:extLst>
              <a:ext uri="{FF2B5EF4-FFF2-40B4-BE49-F238E27FC236}">
                <a16:creationId xmlns:a16="http://schemas.microsoft.com/office/drawing/2014/main" id="{5B41BD4F-03B8-DDF2-4043-90227A726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3487" y="191652"/>
            <a:ext cx="11761575" cy="4572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800" b="1" i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9" name="矩形: 圆角 7">
            <a:extLst>
              <a:ext uri="{FF2B5EF4-FFF2-40B4-BE49-F238E27FC236}">
                <a16:creationId xmlns:a16="http://schemas.microsoft.com/office/drawing/2014/main" id="{57E1E166-03E2-173F-1D1E-95C05881CC22}"/>
              </a:ext>
            </a:extLst>
          </p:cNvPr>
          <p:cNvSpPr/>
          <p:nvPr userDrawn="1"/>
        </p:nvSpPr>
        <p:spPr>
          <a:xfrm flipV="1">
            <a:off x="1" y="709682"/>
            <a:ext cx="12206602" cy="45719"/>
          </a:xfrm>
          <a:prstGeom prst="roundRect">
            <a:avLst/>
          </a:prstGeom>
          <a:gradFill>
            <a:gsLst>
              <a:gs pos="56000">
                <a:schemeClr val="accent4"/>
              </a:gs>
              <a:gs pos="0">
                <a:schemeClr val="accent4"/>
              </a:gs>
              <a:gs pos="87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cxnSp>
        <p:nvCxnSpPr>
          <p:cNvPr id="30" name="直接连接符 13">
            <a:extLst>
              <a:ext uri="{FF2B5EF4-FFF2-40B4-BE49-F238E27FC236}">
                <a16:creationId xmlns:a16="http://schemas.microsoft.com/office/drawing/2014/main" id="{BA2536EE-171C-296A-42BB-021E33B6F101}"/>
              </a:ext>
            </a:extLst>
          </p:cNvPr>
          <p:cNvCxnSpPr>
            <a:cxnSpLocks/>
          </p:cNvCxnSpPr>
          <p:nvPr userDrawn="1"/>
        </p:nvCxnSpPr>
        <p:spPr>
          <a:xfrm>
            <a:off x="301058" y="6567949"/>
            <a:ext cx="1161310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8">
            <a:extLst>
              <a:ext uri="{FF2B5EF4-FFF2-40B4-BE49-F238E27FC236}">
                <a16:creationId xmlns:a16="http://schemas.microsoft.com/office/drawing/2014/main" id="{D7ACAC55-90E1-4BFA-020C-3ADF92C14717}"/>
              </a:ext>
            </a:extLst>
          </p:cNvPr>
          <p:cNvSpPr txBox="1"/>
          <p:nvPr userDrawn="1"/>
        </p:nvSpPr>
        <p:spPr>
          <a:xfrm>
            <a:off x="553586" y="6628780"/>
            <a:ext cx="2130425" cy="123111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cap="all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SAE INTERNATIONAL</a:t>
            </a:r>
          </a:p>
        </p:txBody>
      </p:sp>
    </p:spTree>
    <p:extLst>
      <p:ext uri="{BB962C8B-B14F-4D97-AF65-F5344CB8AC3E}">
        <p14:creationId xmlns:p14="http://schemas.microsoft.com/office/powerpoint/2010/main" val="3587439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小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3571A77-2F18-CC82-1D97-790FC0617194}"/>
              </a:ext>
            </a:extLst>
          </p:cNvPr>
          <p:cNvSpPr/>
          <p:nvPr userDrawn="1"/>
        </p:nvSpPr>
        <p:spPr>
          <a:xfrm>
            <a:off x="0" y="0"/>
            <a:ext cx="12192000" cy="595447"/>
          </a:xfrm>
          <a:prstGeom prst="rect">
            <a:avLst/>
          </a:prstGeom>
          <a:gradFill>
            <a:gsLst>
              <a:gs pos="3000">
                <a:srgbClr val="2F528F"/>
              </a:gs>
              <a:gs pos="9000">
                <a:srgbClr val="859CC7"/>
              </a:gs>
              <a:gs pos="23000">
                <a:srgbClr val="F5F8FF"/>
              </a:gs>
              <a:gs pos="17000">
                <a:srgbClr val="DAE6FE"/>
              </a:gs>
              <a:gs pos="100000">
                <a:schemeClr val="bg1"/>
              </a:gs>
              <a:gs pos="0">
                <a:srgbClr val="2F528F"/>
              </a:gs>
              <a:gs pos="0">
                <a:srgbClr val="20386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0F8EB1E-9A7F-45DC-F858-2D71A58F43C3}"/>
              </a:ext>
            </a:extLst>
          </p:cNvPr>
          <p:cNvCxnSpPr/>
          <p:nvPr userDrawn="1"/>
        </p:nvCxnSpPr>
        <p:spPr>
          <a:xfrm>
            <a:off x="0" y="605341"/>
            <a:ext cx="12192000" cy="0"/>
          </a:xfrm>
          <a:prstGeom prst="line">
            <a:avLst/>
          </a:prstGeom>
          <a:gradFill>
            <a:gsLst>
              <a:gs pos="65000">
                <a:srgbClr val="F5F8FF"/>
              </a:gs>
              <a:gs pos="22000">
                <a:srgbClr val="DAE6FE"/>
              </a:gs>
              <a:gs pos="100000">
                <a:schemeClr val="bg1"/>
              </a:gs>
              <a:gs pos="4000">
                <a:srgbClr val="2C61CA">
                  <a:alpha val="81961"/>
                </a:srgbClr>
              </a:gs>
              <a:gs pos="0">
                <a:srgbClr val="022D86"/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lumMod val="85000"/>
                  </a:schemeClr>
                </a:gs>
                <a:gs pos="37000">
                  <a:srgbClr val="2E529B"/>
                </a:gs>
                <a:gs pos="100000">
                  <a:srgbClr val="022D86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6" name="图片 5" descr="徽标&#10;&#10;AI 生成的内容可能不正确。">
            <a:extLst>
              <a:ext uri="{FF2B5EF4-FFF2-40B4-BE49-F238E27FC236}">
                <a16:creationId xmlns:a16="http://schemas.microsoft.com/office/drawing/2014/main" id="{1C94728B-9E16-F79C-07A1-FAC177E4CC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2575" y="8369"/>
            <a:ext cx="640090" cy="581998"/>
          </a:xfrm>
          <a:prstGeom prst="rect">
            <a:avLst/>
          </a:prstGeom>
        </p:spPr>
      </p:pic>
      <p:sp>
        <p:nvSpPr>
          <p:cNvPr id="22" name="文本占位符 2"/>
          <p:cNvSpPr>
            <a:spLocks noGrp="1"/>
          </p:cNvSpPr>
          <p:nvPr>
            <p:ph type="body" idx="12" hasCustomPrompt="1"/>
          </p:nvPr>
        </p:nvSpPr>
        <p:spPr>
          <a:xfrm>
            <a:off x="761963" y="1857600"/>
            <a:ext cx="10287072" cy="4228894"/>
          </a:xfrm>
        </p:spPr>
        <p:txBody>
          <a:bodyPr anchor="t">
            <a:normAutofit/>
          </a:bodyPr>
          <a:lstStyle>
            <a:lvl1pPr marL="0" marR="0" indent="0" algn="l" defTabSz="1097280" rtl="0" eaLnBrk="1" fontAlgn="auto" latinLnBrk="0" hangingPunct="1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2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2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单击编辑正文内容</a:t>
            </a:r>
            <a:endParaRPr kumimoji="0" lang="en-US" altLang="zh-CN" sz="192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1097280" rtl="0" eaLnBrk="1" fontAlgn="auto" latinLnBrk="0" hangingPunct="1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92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92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第一级内容</a:t>
            </a:r>
            <a:endParaRPr kumimoji="0" lang="en-US" altLang="zh-CN" sz="192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1097280" rtl="0" eaLnBrk="1" fontAlgn="auto" latinLnBrk="0" hangingPunct="1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2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- </a:t>
            </a:r>
            <a:r>
              <a:rPr kumimoji="0" lang="zh-CN" altLang="en-US" sz="192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第二级内容</a:t>
            </a:r>
            <a:endParaRPr kumimoji="0" lang="en-US" altLang="zh-CN" sz="192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1097280" rtl="0" eaLnBrk="1" fontAlgn="auto" latinLnBrk="0" hangingPunct="1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- </a:t>
            </a:r>
            <a:r>
              <a:rPr kumimoji="0" lang="zh-CN" altLang="en-US" sz="168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第三级内容</a:t>
            </a:r>
            <a:r>
              <a:rPr kumimoji="0" lang="en-US" altLang="zh-CN" sz="168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</a:p>
          <a:p>
            <a:pPr lvl="0"/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 txBox="1"/>
          <p:nvPr userDrawn="1"/>
        </p:nvSpPr>
        <p:spPr>
          <a:xfrm>
            <a:off x="9347200" y="648699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44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A1544B1-D71F-47DF-8A39-5116B0801E0C}" type="slidenum">
              <a:rPr lang="zh-CN" altLang="en-US" sz="1440" b="1" smtClean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rPr>
              <a:t>‹#›</a:t>
            </a:fld>
            <a:endParaRPr lang="zh-CN" altLang="en-US" sz="1440" b="1" dirty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43339" y="80801"/>
            <a:ext cx="10287072" cy="527843"/>
          </a:xfrm>
        </p:spPr>
        <p:txBody>
          <a:bodyPr anchor="t">
            <a:normAutofit/>
          </a:bodyPr>
          <a:lstStyle>
            <a:lvl1pPr algn="l">
              <a:defRPr sz="2400" b="1" cap="all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单击编辑文本标题</a:t>
            </a:r>
          </a:p>
        </p:txBody>
      </p:sp>
    </p:spTree>
    <p:extLst>
      <p:ext uri="{BB962C8B-B14F-4D97-AF65-F5344CB8AC3E}">
        <p14:creationId xmlns:p14="http://schemas.microsoft.com/office/powerpoint/2010/main" val="194185356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3269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086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3486" y="6356350"/>
            <a:ext cx="700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A9598-6120-4236-B6F1-72B502AB3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8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55AA-A557-170B-55B5-14829294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7E4F8B0-66D4-6ED2-63DA-A4D1658D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基于视觉底盘信息融合的纵侧向车速估计方法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0BE784-B96E-32BB-5F8A-29918B942FE5}"/>
              </a:ext>
            </a:extLst>
          </p:cNvPr>
          <p:cNvSpPr/>
          <p:nvPr/>
        </p:nvSpPr>
        <p:spPr>
          <a:xfrm>
            <a:off x="249752" y="782036"/>
            <a:ext cx="11692107" cy="59257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531F94-B788-BD49-A54B-697D61EC5F80}"/>
              </a:ext>
            </a:extLst>
          </p:cNvPr>
          <p:cNvSpPr/>
          <p:nvPr/>
        </p:nvSpPr>
        <p:spPr>
          <a:xfrm>
            <a:off x="378688" y="798055"/>
            <a:ext cx="484986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005B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BA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2C219E-35CF-A328-E5EB-CB0C2A8285FC}"/>
              </a:ext>
            </a:extLst>
          </p:cNvPr>
          <p:cNvSpPr/>
          <p:nvPr/>
        </p:nvSpPr>
        <p:spPr>
          <a:xfrm>
            <a:off x="249946" y="782036"/>
            <a:ext cx="121752" cy="3524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CACBBFA2-6A6F-2C37-1A47-E8EA69E25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38749"/>
              </p:ext>
            </p:extLst>
          </p:nvPr>
        </p:nvGraphicFramePr>
        <p:xfrm>
          <a:off x="547666" y="1283337"/>
          <a:ext cx="7299892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973">
                  <a:extLst>
                    <a:ext uri="{9D8B030D-6E8A-4147-A177-3AD203B41FA5}">
                      <a16:colId xmlns:a16="http://schemas.microsoft.com/office/drawing/2014/main" val="2461921384"/>
                    </a:ext>
                  </a:extLst>
                </a:gridCol>
                <a:gridCol w="1824973">
                  <a:extLst>
                    <a:ext uri="{9D8B030D-6E8A-4147-A177-3AD203B41FA5}">
                      <a16:colId xmlns:a16="http://schemas.microsoft.com/office/drawing/2014/main" val="4152584978"/>
                    </a:ext>
                  </a:extLst>
                </a:gridCol>
                <a:gridCol w="1824973">
                  <a:extLst>
                    <a:ext uri="{9D8B030D-6E8A-4147-A177-3AD203B41FA5}">
                      <a16:colId xmlns:a16="http://schemas.microsoft.com/office/drawing/2014/main" val="2707924607"/>
                    </a:ext>
                  </a:extLst>
                </a:gridCol>
                <a:gridCol w="1824973">
                  <a:extLst>
                    <a:ext uri="{9D8B030D-6E8A-4147-A177-3AD203B41FA5}">
                      <a16:colId xmlns:a16="http://schemas.microsoft.com/office/drawing/2014/main" val="500950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绝对速度误差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(m/s)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MAE   Vx(m/s)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MAE   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Vy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(m/s)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739500"/>
                  </a:ext>
                </a:extLst>
              </a:tr>
              <a:tr h="393898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视觉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运动学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动力学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0.0744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0.0688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0.0178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3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运动学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动力学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0.0756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0.0700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0.0178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386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视觉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运动学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0.0763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0.0705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0.0182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58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1.0891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1.0882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0.0215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646875"/>
                  </a:ext>
                </a:extLst>
              </a:tr>
            </a:tbl>
          </a:graphicData>
        </a:graphic>
      </p:graphicFrame>
      <p:graphicFrame>
        <p:nvGraphicFramePr>
          <p:cNvPr id="74" name="表格 73">
            <a:extLst>
              <a:ext uri="{FF2B5EF4-FFF2-40B4-BE49-F238E27FC236}">
                <a16:creationId xmlns:a16="http://schemas.microsoft.com/office/drawing/2014/main" id="{A7425E0D-1D13-9CC6-D8E9-F0AEDF371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961733"/>
              </p:ext>
            </p:extLst>
          </p:nvPr>
        </p:nvGraphicFramePr>
        <p:xfrm>
          <a:off x="547666" y="3820410"/>
          <a:ext cx="7299892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973">
                  <a:extLst>
                    <a:ext uri="{9D8B030D-6E8A-4147-A177-3AD203B41FA5}">
                      <a16:colId xmlns:a16="http://schemas.microsoft.com/office/drawing/2014/main" val="3888181502"/>
                    </a:ext>
                  </a:extLst>
                </a:gridCol>
                <a:gridCol w="1824973">
                  <a:extLst>
                    <a:ext uri="{9D8B030D-6E8A-4147-A177-3AD203B41FA5}">
                      <a16:colId xmlns:a16="http://schemas.microsoft.com/office/drawing/2014/main" val="396593019"/>
                    </a:ext>
                  </a:extLst>
                </a:gridCol>
                <a:gridCol w="1824973">
                  <a:extLst>
                    <a:ext uri="{9D8B030D-6E8A-4147-A177-3AD203B41FA5}">
                      <a16:colId xmlns:a16="http://schemas.microsoft.com/office/drawing/2014/main" val="1933960409"/>
                    </a:ext>
                  </a:extLst>
                </a:gridCol>
                <a:gridCol w="1824973">
                  <a:extLst>
                    <a:ext uri="{9D8B030D-6E8A-4147-A177-3AD203B41FA5}">
                      <a16:colId xmlns:a16="http://schemas.microsoft.com/office/drawing/2014/main" val="16261125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典型场景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视觉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运动学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动力学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运动学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动力学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视觉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运动学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2803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绝对速度误差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(m/s)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203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4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0.0865</a:t>
                      </a:r>
                      <a:endParaRPr lang="zh-CN" altLang="en-US" sz="1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0.0876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0.0896</a:t>
                      </a:r>
                    </a:p>
                  </a:txBody>
                  <a:tcPr marL="57150" marR="57150" marT="31750" marB="31750"/>
                </a:tc>
                <a:extLst>
                  <a:ext uri="{0D108BD9-81ED-4DB2-BD59-A6C34878D82A}">
                    <a16:rowId xmlns:a16="http://schemas.microsoft.com/office/drawing/2014/main" val="601214554"/>
                  </a:ext>
                </a:extLst>
              </a:tr>
            </a:tbl>
          </a:graphicData>
        </a:graphic>
      </p:graphicFrame>
      <p:sp>
        <p:nvSpPr>
          <p:cNvPr id="75" name="文本框 74">
            <a:extLst>
              <a:ext uri="{FF2B5EF4-FFF2-40B4-BE49-F238E27FC236}">
                <a16:creationId xmlns:a16="http://schemas.microsoft.com/office/drawing/2014/main" id="{145E774C-50C9-4FA6-3B8B-EDE2EC98C087}"/>
              </a:ext>
            </a:extLst>
          </p:cNvPr>
          <p:cNvSpPr txBox="1"/>
          <p:nvPr/>
        </p:nvSpPr>
        <p:spPr>
          <a:xfrm>
            <a:off x="7972816" y="1744564"/>
            <a:ext cx="3671518" cy="3368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B3B3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动力学分支收益有限：</a:t>
            </a:r>
            <a:endParaRPr lang="en-US" altLang="zh-CN" b="0" i="0" dirty="0">
              <a:solidFill>
                <a:srgbClr val="3B3B3B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B3B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动力学分支提取特征与运动学分支特征重复</a:t>
            </a:r>
            <a:endParaRPr lang="en-US" altLang="zh-CN" b="0" i="0" dirty="0">
              <a:solidFill>
                <a:srgbClr val="3B3B3B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B3B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当前三种特征融合仍是纯数据驱动。三种特征之间权重选择未引入物理约束</a:t>
            </a:r>
            <a:endParaRPr lang="en-US" altLang="zh-CN" dirty="0">
              <a:solidFill>
                <a:srgbClr val="3B3B3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nuScenes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数据集侧向速度数值范围小，侧向激励小</a:t>
            </a:r>
          </a:p>
        </p:txBody>
      </p:sp>
    </p:spTree>
    <p:extLst>
      <p:ext uri="{BB962C8B-B14F-4D97-AF65-F5344CB8AC3E}">
        <p14:creationId xmlns:p14="http://schemas.microsoft.com/office/powerpoint/2010/main" val="420637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55AA-A557-170B-55B5-14829294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7E4F8B0-66D4-6ED2-63DA-A4D1658D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后续实施计划：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CB920-29B7-8631-37CE-E670ABE06368}"/>
              </a:ext>
            </a:extLst>
          </p:cNvPr>
          <p:cNvSpPr/>
          <p:nvPr/>
        </p:nvSpPr>
        <p:spPr>
          <a:xfrm>
            <a:off x="249752" y="782036"/>
            <a:ext cx="11692107" cy="59257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CCDE50-1735-3B39-CA00-C7D5EC82B82B}"/>
              </a:ext>
            </a:extLst>
          </p:cNvPr>
          <p:cNvSpPr/>
          <p:nvPr/>
        </p:nvSpPr>
        <p:spPr>
          <a:xfrm>
            <a:off x="378688" y="798055"/>
            <a:ext cx="484986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BA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训练效果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A74BE8-6386-3144-EFEC-0A6458ABA19E}"/>
              </a:ext>
            </a:extLst>
          </p:cNvPr>
          <p:cNvSpPr/>
          <p:nvPr/>
        </p:nvSpPr>
        <p:spPr>
          <a:xfrm>
            <a:off x="249946" y="782036"/>
            <a:ext cx="121752" cy="3524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B9EC86-A0BF-6461-BFA9-5D715244D4BE}"/>
              </a:ext>
            </a:extLst>
          </p:cNvPr>
          <p:cNvSpPr txBox="1"/>
          <p:nvPr/>
        </p:nvSpPr>
        <p:spPr>
          <a:xfrm>
            <a:off x="460353" y="1248629"/>
            <a:ext cx="10941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0" dirty="0">
                <a:solidFill>
                  <a:srgbClr val="3B3B3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b="0" dirty="0" err="1">
                <a:solidFill>
                  <a:srgbClr val="3B3B3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Carsim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采集数据训练运动学和动力学分支；使用数据集训练视觉分支；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采集实车数据训练融合模块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优化动力学分支算法及置信度融合模块算法，引入物理约束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51871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Other"/>
  <p:tag name="MH_ORDER" val="4"/>
  <p:tag name="PA" val="v3.0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174</Words>
  <Application>Microsoft Office PowerPoint</Application>
  <PresentationFormat>宽屏</PresentationFormat>
  <Paragraphs>41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MiSans Heavy</vt:lpstr>
      <vt:lpstr>等线</vt:lpstr>
      <vt:lpstr>黑体</vt:lpstr>
      <vt:lpstr>宋体</vt:lpstr>
      <vt:lpstr>Microsoft YaHei</vt:lpstr>
      <vt:lpstr>Microsoft YaHei</vt:lpstr>
      <vt:lpstr>Arial</vt:lpstr>
      <vt:lpstr>Calibri</vt:lpstr>
      <vt:lpstr>Goudy Stout</vt:lpstr>
      <vt:lpstr>Impact</vt:lpstr>
      <vt:lpstr>Wingdings</vt:lpstr>
      <vt:lpstr>Blank</vt:lpstr>
      <vt:lpstr>基于视觉底盘信息融合的纵侧向车速估计方法</vt:lpstr>
      <vt:lpstr>后续实施计划：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煜 张</dc:creator>
  <cp:lastModifiedBy>煜 张</cp:lastModifiedBy>
  <cp:revision>19</cp:revision>
  <dcterms:created xsi:type="dcterms:W3CDTF">2026-05-29T02:25:16Z</dcterms:created>
  <dcterms:modified xsi:type="dcterms:W3CDTF">2026-07-20T00:47:53Z</dcterms:modified>
</cp:coreProperties>
</file>