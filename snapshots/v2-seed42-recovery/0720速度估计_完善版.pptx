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d250f358f7488a" /><Relationship Type="http://schemas.openxmlformats.org/officeDocument/2006/relationships/extended-properties" Target="/docProps/app.xml" Id="R0d1789308c5d4315" /><Relationship Type="http://schemas.openxmlformats.org/officeDocument/2006/relationships/officeDocument" Target="/ppt/presentation.xml" Id="R90bad23156cd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568ffd9c847af"/>
  </p:sldMasterIdLst>
  <p:notesMasterIdLst>
    <p:notesMasterId xmlns:r="http://schemas.openxmlformats.org/officeDocument/2006/relationships" r:id="Rf6f3464863ca4c3f"/>
  </p:notesMasterIdLst>
  <p:sldIdLst>
    <p:sldId xmlns:r="http://schemas.openxmlformats.org/officeDocument/2006/relationships" id="256" r:id="R416397dcaa65462a"/>
    <p:sldId xmlns:r="http://schemas.openxmlformats.org/officeDocument/2006/relationships" id="257" r:id="Rf97f6a6715de48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0ce6da553646a1" /><Relationship Type="http://schemas.openxmlformats.org/officeDocument/2006/relationships/slideMaster" Target="/ppt/slideMasters/slideMaster1.xml" Id="R224568ffd9c847af" /><Relationship Type="http://schemas.openxmlformats.org/officeDocument/2006/relationships/notesMaster" Target="/ppt/notesMasters/notesMaster1.xml" Id="Rf6f3464863ca4c3f" /><Relationship Type="http://schemas.openxmlformats.org/officeDocument/2006/relationships/presProps" Target="/ppt/presProps.xml" Id="R76b09721a92e46c8" /><Relationship Type="http://schemas.openxmlformats.org/officeDocument/2006/relationships/viewProps" Target="/ppt/viewProps.xml" Id="Rffd5591802774766" /><Relationship Type="http://schemas.openxmlformats.org/officeDocument/2006/relationships/tableStyles" Target="/ppt/tableStyles.xml" Id="R635f35f1d97348e8" /><Relationship Type="http://schemas.openxmlformats.org/officeDocument/2006/relationships/slide" Target="/ppt/slides/slide1.xml" Id="R416397dcaa65462a" /><Relationship Type="http://schemas.openxmlformats.org/officeDocument/2006/relationships/slide" Target="/ppt/slides/slide2.xml" Id="Rf97f6a6715de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ad5a7087344e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8000"/>
                <a:satMod val="103000"/>
              </a:schemeClr>
            </a:gs>
            <a:gs pos="50000">
              <a:schemeClr val="phClr">
                <a:lumMod val="91000"/>
                <a:satMod val="89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644c3621c4b9d" /><Relationship Type="http://schemas.openxmlformats.org/officeDocument/2006/relationships/notesMaster" Target="/ppt/notesMasters/notesMaster1.xml" Id="R2d4b6d75d24c46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5162e958e84991" /><Relationship Type="http://schemas.openxmlformats.org/officeDocument/2006/relationships/notesMaster" Target="/ppt/notesMasters/notesMaster1.xml" Id="Re31257dced794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c82127aa94d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969f9618f4d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72030b84446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2cbfd4d274c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6b16d78ed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fd042436e41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94f0fee554c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359f8149244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4f4dcf042482f" /><Relationship Type="http://schemas.openxmlformats.org/officeDocument/2006/relationships/image" Target="/ppt/media/image.jpeg" Id="R9796bf97d53648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f9e5b947949b1" /><Relationship Type="http://schemas.openxmlformats.org/officeDocument/2006/relationships/image" Target="/ppt/media/image.png" Id="Rf1ea500c424c499c" /><Relationship Type="http://schemas.openxmlformats.org/officeDocument/2006/relationships/image" Target="/ppt/media/image2.png" Id="R5276c808f86e4511" /><Relationship Type="http://schemas.openxmlformats.org/officeDocument/2006/relationships/image" Target="/ppt/media/image3.png" Id="R39bfe431c44548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87c706f31497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8ca24a5114be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aeeab202a4265" /><Relationship Type="http://schemas.openxmlformats.org/officeDocument/2006/relationships/image" Target="/ppt/media/image4.png" Id="Rf268933f67524a44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69860C-258E-4D51-93CF-A5029326EFC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91098" y="1606423"/>
            <a:ext cx="6457951" cy="2387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48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BFAFBA8-47D0-4F48-BAB5-64B971FB4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991099" y="4167061"/>
            <a:ext cx="6457950" cy="165576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黑体"/>
                <a:ea typeface="黑体"/>
                <a:cs typeface="黑体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  <p:sp>
        <p:nvSpPr>
          <p:cNvPr id="7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7E286221-A6B5-4ABC-8C2A-1AE49D0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2719" y="741670"/>
            <a:ext cx="606726" cy="59266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PA_圆角淘宝网Chenying0907出品 7">
            <a:extLst xmlns:a="http://schemas.openxmlformats.org/drawingml/2006/main">
              <a:ext uri="{FF2B5EF4-FFF2-40B4-BE49-F238E27FC236}">
                <a16:creationId xmlns:a16="http://schemas.microsoft.com/office/drawing/2014/main" id="{4625616E-8D68-4B94-A37F-621563A5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0777" y="4164422"/>
            <a:ext cx="420041" cy="41030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PA_圆角淘宝网Chenying0907出品 8">
            <a:extLst xmlns:a="http://schemas.openxmlformats.org/drawingml/2006/main">
              <a:ext uri="{FF2B5EF4-FFF2-40B4-BE49-F238E27FC236}">
                <a16:creationId xmlns:a16="http://schemas.microsoft.com/office/drawing/2014/main" id="{715C3264-802F-4E3F-8885-643C907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9035" y="387393"/>
            <a:ext cx="513384" cy="501482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F4FAA28E-B3F9-447A-B3CD-4185EBAC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1028" y="1400429"/>
            <a:ext cx="1073501" cy="104861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C7F945D1-9FD6-4D2A-96B1-99C30DC0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326" y="3584990"/>
            <a:ext cx="539504" cy="5269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30AC2AEE-CAF8-47BA-B3C9-823E6F7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7297" y="1057604"/>
            <a:ext cx="886754" cy="8661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2C9C92FD-16AB-4FDB-858B-22C7F21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622" y="2146561"/>
            <a:ext cx="986759" cy="96388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PA_对角圆角淘宝网Chenying0907出品 4">
            <a:extLst xmlns:a="http://schemas.openxmlformats.org/drawingml/2006/main">
              <a:ext uri="{FF2B5EF4-FFF2-40B4-BE49-F238E27FC236}">
                <a16:creationId xmlns:a16="http://schemas.microsoft.com/office/drawing/2014/main" id="{124EC5EE-117B-457E-8DE4-EEF45291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670" y="1789178"/>
            <a:ext cx="1445132" cy="1319810"/>
          </a:xfrm>
          <a:prstGeom xmlns:a="http://schemas.openxmlformats.org/drawingml/2006/main" prst="round2DiagRect">
            <a:avLst>
              <a:gd name="adj1" fmla="val 0"/>
              <a:gd name="adj2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222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PA_淘宝网Chenying0907出品 5">
            <a:extLst xmlns:a="http://schemas.openxmlformats.org/drawingml/2006/main">
              <a:ext uri="{FF2B5EF4-FFF2-40B4-BE49-F238E27FC236}">
                <a16:creationId xmlns:a16="http://schemas.microsoft.com/office/drawing/2014/main" id="{777CB335-2EB6-42C4-BE38-8AFB8E1D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7909" y="2157674"/>
            <a:ext cx="1404000" cy="1300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71" tIns="34285" rIns="68571" bIns="34285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solidFill>
                  <a:schemeClr val="accent1"/>
                </a:solidFill>
                <a:latin typeface="Goudy Stout"/>
                <a:ea typeface="Goudy Stout"/>
                <a:cs typeface="Goudy Stout"/>
              </a:rPr>
              <a:t>TJ</a:t>
            </a:r>
          </a:p>
        </p:txBody>
      </p:sp>
      <p:sp>
        <p:nvSpPr>
          <p:cNvPr id="16" name="PA_圆角淘宝网Chenying0907出品 9">
            <a:extLst xmlns:a="http://schemas.openxmlformats.org/drawingml/2006/main">
              <a:ext uri="{FF2B5EF4-FFF2-40B4-BE49-F238E27FC236}">
                <a16:creationId xmlns:a16="http://schemas.microsoft.com/office/drawing/2014/main" id="{A502CA0C-C356-49FA-9EBA-E555767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598" y="1685351"/>
            <a:ext cx="653397" cy="63825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12700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2007D9AC-B814-4AD1-831C-9C7CC78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0528" y="736029"/>
            <a:ext cx="536449" cy="544604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71DF1CBD-EA14-4C2E-B677-B282D6C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12222" y="1516612"/>
            <a:ext cx="350549" cy="35587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PA_圆角淘宝网Chenying0907出品 47">
            <a:extLst xmlns:a="http://schemas.openxmlformats.org/drawingml/2006/main">
              <a:ext uri="{FF2B5EF4-FFF2-40B4-BE49-F238E27FC236}">
                <a16:creationId xmlns:a16="http://schemas.microsoft.com/office/drawing/2014/main" id="{433728EE-84AD-46AF-8660-4E0DA8D2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8885" y="736029"/>
            <a:ext cx="417663" cy="424012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819AF6DD-E11A-4EFD-BCB9-CF25C4D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6884" y="559464"/>
            <a:ext cx="198107" cy="20111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CA501E-B952-4A7E-8601-8B9DCAF9F6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7A9598-6120-4236-B6F1-72B502AB372F}" type="slidenum">
              <a:t>‹#›</a:t>
            </a:fld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9020B52-C371-4D36-947B-17A6140D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0838" y="872083"/>
            <a:ext cx="10479237" cy="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1CBBFA4-58D0-41C4-976B-1196F479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435" y="331259"/>
            <a:ext cx="434789" cy="448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873359-E043-431B-A6B9-0F653BB1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913" y="576459"/>
            <a:ext cx="279521" cy="2827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8A3816-7C9C-4B45-A3D9-1E017D26AEE2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209304" y="964351"/>
            <a:ext cx="10047514" cy="5210646"/>
          </a:xfrm>
        </p:spPr>
        <p:txBody>
          <a:bodyPr xmlns:a="http://schemas.openxmlformats.org/drawingml/2006/main"/>
          <a:lstStyle xmlns:a="http://schemas.openxmlformats.org/drawingml/2006/main">
            <a:lvl1pPr marL="628650" indent="-628650">
              <a:buFont typeface="Wingdings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895350" indent="-43815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/>
                <a:ea typeface="黑体"/>
                <a:cs typeface="黑体"/>
              </a:defRPr>
            </a:lvl2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F3FFC77E-9013-4C83-A325-CF3F3FF9A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9304" y="356659"/>
            <a:ext cx="6038825" cy="440676"/>
          </a:xfrm>
        </p:spPr>
        <p:txBody>
          <a:bodyPr xmlns:a="http://schemas.openxmlformats.org/drawingml/2006/main" vert="horz" lIns="68580" tIns="34290" rIns="68580" bIns="34290" anchor="ctr">
            <a:noAutofit/>
          </a:bodyPr>
          <a:lstStyle xmlns:a="http://schemas.openxmlformats.org/drawingml/2006/main">
            <a:lvl1pPr algn="l">
              <a:buNone/>
              <a:defRPr sz="3200" b="1" i="0" baseline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defTabSz="685800">
              <a:lnSpc>
                <a:spcPct val="90000"/>
              </a:lnSpc>
              <a:buNone/>
            </a:pPr>
            <a:r>
              <a:t>单击此处编辑母版标题样式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ADC7A-AE96-442C-91F6-647E56F2C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4638"/>
            <a:ext cx="10515600" cy="68330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F96182-C6F2-46DE-B1AB-FF17464537A2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957944"/>
            <a:ext cx="10515600" cy="5214258"/>
          </a:xfrm>
        </p:spPr>
        <p:txBody>
          <a:bodyPr xmlns:a="http://schemas.openxmlformats.org/drawingml/2006/main"/>
          <a:lstStyle xmlns:a="http://schemas.openxmlformats.org/drawingml/2006/main">
            <a:lvl1pPr marL="628650" indent="-628650">
              <a:buFont typeface="Wingdings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895350" indent="-43815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/>
                <a:ea typeface="黑体"/>
                <a:cs typeface="黑体"/>
              </a:defRPr>
            </a:lvl2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3A4A4D-A660-418D-8727-EF2A09C76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7A9598-6120-4236-B6F1-72B502AB372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type="obj" preserve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44C490-9E82-4937-98BB-7793D469C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4638"/>
            <a:ext cx="10515600" cy="68330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712D9C-7309-46E6-818D-994DFA27BE0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1306286" y="1582056"/>
            <a:ext cx="10047514" cy="4590145"/>
          </a:xfrm>
        </p:spPr>
        <p:txBody>
          <a:bodyPr xmlns:a="http://schemas.openxmlformats.org/drawingml/2006/main"/>
          <a:lstStyle xmlns:a="http://schemas.openxmlformats.org/drawingml/2006/main">
            <a:lvl1pPr marL="628650" indent="-628650">
              <a:buFont typeface="Wingdings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895350" indent="-43815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/>
                <a:ea typeface="黑体"/>
                <a:cs typeface="黑体"/>
              </a:defRPr>
            </a:lvl2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E184E0-F822-449D-A9BE-1D2280AE33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7A9598-6120-4236-B6F1-72B502AB372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FEAE34B-59F9-40ED-858B-F9DE94B9FE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7A9598-6120-4236-B6F1-72B502AB372F}" type="slidenum">
              <a:t>‹#›</a:t>
            </a:fld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A3514E84-537C-45F7-BE44-E7C6713B9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4638"/>
            <a:ext cx="10515600" cy="68330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AAF6256-04E5-4A3D-A452-0E7729A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3088"/>
            <a:ext cx="10515600" cy="537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>
                <a:latin typeface="微软雅黑"/>
                <a:ea typeface="微软雅黑"/>
                <a:cs typeface="微软雅黑"/>
              </a:rPr>
              <a:t>单击此处编辑母版标题样式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918FCBE-153D-40C4-BD53-F71FE9A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9719"/>
            <a:ext cx="10515600" cy="5370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>
                <a:latin typeface="微软雅黑"/>
                <a:ea typeface="微软雅黑"/>
                <a:cs typeface="微软雅黑"/>
              </a:rPr>
              <a:t>单击此处编辑母版标题样式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6331396-B96A-4DC4-A01D-7735285257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7A9598-6120-4236-B6F1-72B502AB372F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766E26E8-2954-423D-BD0E-348C0229F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4638"/>
            <a:ext cx="10515600" cy="68330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90703C4-0723-4A5E-A7AF-A51725221F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63344"/>
            <a:ext cx="284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2026/7/20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A194EE5-1D68-4DB4-819F-ACAA0A46D3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5587" y="6363344"/>
            <a:ext cx="3860800" cy="365125"/>
          </a:xfrm>
        </p:spPr>
        <p:txBody>
          <a:bodyPr xmlns:a="http://schemas.openxmlformats.org/drawingml/2006/main" vert="horz" lIns="76618" tIns="38309" rIns="76618" bIns="38309" anchor="ctr"/>
          <a:lstStyle xmlns:a="http://schemas.openxmlformats.org/drawingml/2006/main">
            <a:lvl1pPr>
              <a:buNone/>
              <a:defRPr>
                <a:solidFill>
                  <a:prstClr val="white">
                    <a:lumMod val="65000"/>
                  </a:prst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/>
        </p:txBody>
      </p:sp>
      <p:sp>
        <p:nvSpPr>
          <p:cNvPr id="22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019F9EC-78CF-49E9-A4A1-51E82AE1E2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64764" y="6351789"/>
            <a:ext cx="1850728" cy="376667"/>
          </a:xfrm>
        </p:spPr>
        <p:txBody>
          <a:bodyPr xmlns:a="http://schemas.openxmlformats.org/drawingml/2006/main" vert="horz" lIns="102156" tIns="51076" rIns="102156" bIns="51076" anchor="ctr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0C913308-F349-4B6D-A68A-DD1791B4A57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 preserve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737D4F7D-E03B-4054-985E-6711B99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30" y="4584431"/>
            <a:ext cx="606727" cy="59266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A83AB539-3B66-4372-A949-EA09000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026" y="2336800"/>
            <a:ext cx="1367373" cy="1269067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237E410D-B838-4E83-B71F-7B713E1B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112" y="1041159"/>
            <a:ext cx="539504" cy="52699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90D9FFDF-048B-410E-AAED-A109D45D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13" y="1604660"/>
            <a:ext cx="2951587" cy="273334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8FC3E8C6-AE68-4E83-9020-B8D6D10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529" y="3942934"/>
            <a:ext cx="986759" cy="96388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PA_对角圆角淘宝网Chenying0907出品 4">
            <a:extLst xmlns:a="http://schemas.openxmlformats.org/drawingml/2006/main">
              <a:ext uri="{FF2B5EF4-FFF2-40B4-BE49-F238E27FC236}">
                <a16:creationId xmlns:a16="http://schemas.microsoft.com/office/drawing/2014/main" id="{14C545BA-64EB-4DE8-8D10-A15C60AA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49" y="1994363"/>
            <a:ext cx="1193703" cy="1201672"/>
          </a:xfrm>
          <a:prstGeom xmlns:a="http://schemas.openxmlformats.org/drawingml/2006/main" prst="round2DiagRect">
            <a:avLst>
              <a:gd name="adj1" fmla="val 0"/>
              <a:gd name="adj2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222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PA_圆角淘宝网Chenying0907出品 9">
            <a:extLst xmlns:a="http://schemas.openxmlformats.org/drawingml/2006/main">
              <a:ext uri="{FF2B5EF4-FFF2-40B4-BE49-F238E27FC236}">
                <a16:creationId xmlns:a16="http://schemas.microsoft.com/office/drawing/2014/main" id="{1FEBD25C-DE5A-4687-8822-9732D100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49" y="1209070"/>
            <a:ext cx="653398" cy="638251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12700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PA_圆角淘宝网Chenying0907出品 8">
            <a:extLst xmlns:a="http://schemas.openxmlformats.org/drawingml/2006/main">
              <a:ext uri="{FF2B5EF4-FFF2-40B4-BE49-F238E27FC236}">
                <a16:creationId xmlns:a16="http://schemas.microsoft.com/office/drawing/2014/main" id="{BD522A06-A8BD-4B4B-AB19-810AB1F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655" y="3196035"/>
            <a:ext cx="608065" cy="57040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E55B4F15-6927-4875-9DAE-19D84487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615" y="1634915"/>
            <a:ext cx="886754" cy="86619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PA_MH_Other_4">
            <a:extLst xmlns:a="http://schemas.openxmlformats.org/drawingml/2006/main">
              <a:ext uri="{FF2B5EF4-FFF2-40B4-BE49-F238E27FC236}">
                <a16:creationId xmlns:a16="http://schemas.microsoft.com/office/drawing/2014/main" id="{B231F154-497E-4796-B3BC-CA6D11F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42934"/>
            <a:ext cx="481446" cy="481942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8100000" scaled="0"/>
            <a:tileRect/>
          </a:gradFill>
          <a:ln xmlns:a="http://schemas.openxmlformats.org/drawingml/2006/main" w="15875">
            <a:noFill/>
          </a:ln>
          <a:effectLst xmlns:a="http://schemas.openxmlformats.org/drawingml/2006/main"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1522" tIns="50759" rIns="101522" bIns="50759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PA_圆角淘宝网Chenying0907出品 7">
            <a:extLst xmlns:a="http://schemas.openxmlformats.org/drawingml/2006/main">
              <a:ext uri="{FF2B5EF4-FFF2-40B4-BE49-F238E27FC236}">
                <a16:creationId xmlns:a16="http://schemas.microsoft.com/office/drawing/2014/main" id="{6666F31D-B1A4-439B-B097-D93E7C2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087"/>
            <a:ext cx="1147896" cy="1041622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  <a:tileRect/>
          </a:gradFill>
          <a:ln xmlns:a="http://schemas.openxmlformats.org/drawingml/2006/main"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 xmlns:a="http://schemas.openxmlformats.org/drawingml/2006/main"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type="titleOnly">
  <p:cSld name="3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A52B8BB-CB46-4242-B6AF-F495E03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0001" y="872067"/>
            <a:ext cx="10479617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6870E9C-82C2-40D9-A204-243A3CE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051" y="332318"/>
            <a:ext cx="436033" cy="448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1E976D-743F-4AB7-B8EC-DA3660EC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818" y="577851"/>
            <a:ext cx="279399" cy="2815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TextBox 18">
            <a:extLst xmlns:a="http://schemas.openxmlformats.org/drawingml/2006/main">
              <a:ext uri="{FF2B5EF4-FFF2-40B4-BE49-F238E27FC236}">
                <a16:creationId xmlns:a16="http://schemas.microsoft.com/office/drawing/2014/main" id="{A9E2FCD6-FF37-4E1A-BD7B-CEC3FFBE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3551" y="273053"/>
            <a:ext cx="2767300" cy="33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600" b="1">
                <a:solidFill>
                  <a:srgbClr val="595959"/>
                </a:solidFill>
              </a:rPr>
              <a:t>公安部交通管理科学研究所</a:t>
            </a:r>
          </a:p>
        </p:txBody>
      </p:sp>
      <p:sp>
        <p:nvSpPr>
          <p:cNvPr id="11" name="TextBox 19">
            <a:extLst xmlns:a="http://schemas.openxmlformats.org/drawingml/2006/main">
              <a:ext uri="{FF2B5EF4-FFF2-40B4-BE49-F238E27FC236}">
                <a16:creationId xmlns:a16="http://schemas.microsoft.com/office/drawing/2014/main" id="{310D3B6A-13BB-461C-88EA-C6CA9E4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91651" y="577852"/>
            <a:ext cx="2383366" cy="225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865" b="1">
                <a:solidFill>
                  <a:schemeClr val="tx1">
                    <a:lumMod val="50000"/>
                    <a:lumOff val="50000"/>
                  </a:schemeClr>
                </a:solidFill>
              </a:rPr>
              <a:t>Traffic Management Research Institute</a:t>
            </a:r>
          </a:p>
        </p:txBody>
      </p:sp>
      <p:pic>
        <p:nvPicPr>
          <p:cNvPr id="2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6bf97d53648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91551" y="296901"/>
            <a:ext cx="615256" cy="5004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4F38D2-6A6F-43ED-8141-81B1FAF2C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9304" y="356659"/>
            <a:ext cx="6038825" cy="440676"/>
          </a:xfrm>
        </p:spPr>
        <p:txBody>
          <a:bodyPr xmlns:a="http://schemas.openxmlformats.org/drawingml/2006/main" lIns="68580" tIns="34290" rIns="68580" bIns="34290">
            <a:noAutofit/>
          </a:bodyPr>
          <a:lstStyle xmlns:a="http://schemas.openxmlformats.org/drawingml/2006/main">
            <a:lvl1pPr algn="l">
              <a:buNone/>
              <a:defRPr sz="2935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2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3B940F9-8A36-411A-A9F8-1FF4AE5F19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82018BB-792D-45DB-8A20-0F8332706B88}" type="datetimeFigureOut">
              <a:t>2026/7/20</a:t>
            </a:fld>
          </a:p>
        </p:txBody>
      </p:sp>
      <p:sp>
        <p:nvSpPr>
          <p:cNvPr id="13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A7E0B63-221A-446B-B0B6-D02603F8B6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388100"/>
            <a:ext cx="3860800" cy="36406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4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3F08A61-6C33-4893-AC42-EE2E020B00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35634" y="6383867"/>
            <a:ext cx="1631951" cy="406400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865">
                <a:latin typeface="Impact"/>
                <a:ea typeface="Impact"/>
                <a:cs typeface="Impact"/>
              </a:defRPr>
            </a:lvl1pPr>
          </a:lstStyle>
          <a:p xmlns:a="http://schemas.openxmlformats.org/drawingml/2006/main">
            <a:fld id="{8430563D-AAB2-41F8-A668-A608C005978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F2C667-8D79-4DA6-9789-57F0EDA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37" y="513023"/>
            <a:ext cx="7675033" cy="650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5685" tIns="47843" rIns="95685" bIns="47843" anchor="b">
            <a:spAutoFit/>
          </a:bodyPr>
          <a:lstStyle xmlns:a="http://schemas.openxmlformats.org/drawingml/2006/main"/>
          <a:p xmlns:a="http://schemas.openxmlformats.org/drawingml/2006/main">
            <a:b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a500c424c49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" y="1"/>
            <a:ext cx="2146849" cy="2164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6c808f86e451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0" r="0" b="9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70" y="44629"/>
            <a:ext cx="1691949" cy="56829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FA71C6C-A482-4432-AFD1-8A3E046F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00" y="0"/>
            <a:ext cx="3108650" cy="28788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68000"/>
            </a:schemeClr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pic>
        <p:nvPicPr>
          <p:cNvPr id="12" name="图片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bfe431c44548eb"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9183" y="48522"/>
            <a:ext cx="2300358" cy="230035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0005456-8C84-42FB-AD9F-AB5A3D9915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98032" y="6484447"/>
            <a:ext cx="59396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4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fld id="{CBFC4C96-1F58-4F4B-AE50-3D13E502204C}" type="slidenum">
              <a:rPr>
                <a:solidFill>
                  <a:prstClr val="black"/>
                </a:solidFill>
              </a:rPr>
              <a:t>‹#›</a:t>
            </a:fld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BC7548-9C80-4A4C-A2CB-35897204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0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47000">
                <a:srgbClr val="F5F8FF">
                  <a:alpha val="97000"/>
                </a:srgbClr>
              </a:gs>
              <a:gs pos="9000">
                <a:srgbClr val="9CB4EC"/>
              </a:gs>
              <a:gs pos="20000">
                <a:srgbClr val="DAE6FE">
                  <a:alpha val="95000"/>
                </a:srgbClr>
              </a:gs>
              <a:gs pos="100000">
                <a:schemeClr val="bg1"/>
              </a:gs>
              <a:gs pos="3000">
                <a:srgbClr val="0E41C2">
                  <a:alpha val="80000"/>
                </a:srgbClr>
              </a:gs>
              <a:gs pos="0">
                <a:srgbClr val="022D86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C3E700CD-F5D4-44EA-979A-E8A7DE94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4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71000">
                  <a:srgbClr val="627CAC"/>
                </a:gs>
                <a:gs pos="0">
                  <a:srgbClr val="E1E8F5"/>
                </a:gs>
                <a:gs pos="26000">
                  <a:schemeClr val="accent1">
                    <a:lumMod val="45000"/>
                    <a:lumOff val="55000"/>
                  </a:schemeClr>
                </a:gs>
                <a:gs pos="55000">
                  <a:schemeClr val="accent1">
                    <a:lumMod val="45000"/>
                    <a:lumOff val="55000"/>
                  </a:schemeClr>
                </a:gs>
                <a:gs pos="100000">
                  <a:srgbClr val="00206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2.xml><?xml version="1.0" encoding="utf-8"?>
<p:sldLayout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enn diagram">
            <a:extLst xmlns:a="http://schemas.openxmlformats.org/drawingml/2006/main">
              <a:ext uri="{FF2B5EF4-FFF2-40B4-BE49-F238E27FC236}">
                <a16:creationId xmlns:a16="http://schemas.microsoft.com/office/drawing/2014/main" id="{7F2DE526-ED47-8E31-F09C-C2AB927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38" y="262454"/>
            <a:ext cx="1869744" cy="3590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25400" tIns="25400" rIns="25400" bIns="25400">
            <a:spAutoFit/>
          </a:bodyPr>
          <a:lstStyle xmlns:a="http://schemas.openxmlformats.org/drawingml/2006/main">
            <a:lvl1pPr algn="l">
              <a:buNone/>
              <a:defRPr sz="6000">
                <a:solidFill>
                  <a:srgbClr val="060708"/>
                </a:solidFill>
              </a:defRPr>
            </a:lvl1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23" name="Freeform 355">
            <a:extLst xmlns:a="http://schemas.openxmlformats.org/drawingml/2006/main">
              <a:ext uri="{FF2B5EF4-FFF2-40B4-BE49-F238E27FC236}">
                <a16:creationId xmlns:a16="http://schemas.microsoft.com/office/drawing/2014/main" id="{8A4B6228-34C1-4EED-0B75-582B0031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 flipV="1">
            <a:off x="342270" y="6638873"/>
            <a:ext cx="66079" cy="90610"/>
          </a:xfrm>
          <a:custGeom xmlns:a="http://schemas.openxmlformats.org/drawingml/2006/main">
            <a:rect l="0" t="0" r="r" b="b"/>
            <a:pathLst>
              <a:path w="21600" h="21600">
                <a:moveTo>
                  <a:pt x="20632" y="13021"/>
                </a:moveTo>
                <a:lnTo>
                  <a:pt x="11484" y="19690"/>
                </a:lnTo>
                <a:lnTo>
                  <a:pt x="11484" y="0"/>
                </a:lnTo>
                <a:lnTo>
                  <a:pt x="10115" y="0"/>
                </a:lnTo>
                <a:lnTo>
                  <a:pt x="10115" y="19690"/>
                </a:lnTo>
                <a:lnTo>
                  <a:pt x="968" y="13021"/>
                </a:lnTo>
                <a:lnTo>
                  <a:pt x="0" y="13727"/>
                </a:lnTo>
                <a:lnTo>
                  <a:pt x="10800" y="21600"/>
                </a:lnTo>
                <a:lnTo>
                  <a:pt x="21600" y="13727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xmlns:a="http://schemas.openxmlformats.org/drawingml/2006/main" lIns="22860" rIns="22860" anchor="ctr"/>
          <a:lstStyle xmlns:a="http://schemas.openxmlformats.org/drawingml/2006/main"/>
          <a:p xmlns:a="http://schemas.openxmlformats.org/drawingml/2006/main">
            <a:pPr algn="l" defTabSz="457200">
              <a:buNone/>
              <a:defRPr sz="1800"/>
            </a:pPr>
          </a:p>
        </p:txBody>
      </p:sp>
      <p:sp>
        <p:nvSpPr>
          <p:cNvPr id="26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5B41BD4F-03B8-DDF2-4043-90227A726DA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3487" y="191652"/>
            <a:ext cx="11761575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800" b="1" i="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19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7E1E166-03E2-173F-1D1E-95C0588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" y="709682"/>
            <a:ext cx="12206602" cy="45719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56000">
                <a:schemeClr val="accent4"/>
              </a:gs>
              <a:gs pos="0">
                <a:schemeClr val="accent4"/>
              </a:gs>
              <a:gs pos="87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59EF2911-9BE0-40C8-8A9D-A5A06D5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58" y="6567949"/>
            <a:ext cx="1161310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85000"/>
                <a:lumOff val="1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extBox 8">
            <a:extLst xmlns:a="http://schemas.openxmlformats.org/drawingml/2006/main">
              <a:ext uri="{FF2B5EF4-FFF2-40B4-BE49-F238E27FC236}">
                <a16:creationId xmlns:a16="http://schemas.microsoft.com/office/drawing/2014/main" id="{D7ACAC55-90E1-4BFA-020C-3ADF92C1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6" y="6628780"/>
            <a:ext cx="2130425" cy="123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800" b="1" cap="all">
                <a:latin typeface="Arial"/>
                <a:ea typeface="Arial"/>
                <a:cs typeface="Arial"/>
              </a:rPr>
              <a:t>SAE INTERNATIONAL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userDrawn="1">
  <p:cSld name="小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571A77-2F18-CC82-1D97-790FC06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5447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3000">
                <a:srgbClr val="2F528F"/>
              </a:gs>
              <a:gs pos="9000">
                <a:srgbClr val="859CC7"/>
              </a:gs>
              <a:gs pos="23000">
                <a:srgbClr val="F5F8FF"/>
              </a:gs>
              <a:gs pos="17000">
                <a:srgbClr val="DAE6FE"/>
              </a:gs>
              <a:gs pos="100000">
                <a:schemeClr val="bg1"/>
              </a:gs>
              <a:gs pos="0">
                <a:srgbClr val="2F528F"/>
              </a:gs>
              <a:gs pos="0">
                <a:srgbClr val="203864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40B051C9-F2E1-438F-856C-D565181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341"/>
            <a:ext cx="12192000" cy="0"/>
          </a:xfrm>
          <a:prstGeom xmlns:a="http://schemas.openxmlformats.org/drawingml/2006/main" prst="line">
            <a:avLst/>
          </a:prstGeom>
          <a:gradFill xmlns:a="http://schemas.openxmlformats.org/drawingml/2006/main">
            <a:gsLst>
              <a:gs pos="65000">
                <a:srgbClr val="F5F8FF"/>
              </a:gs>
              <a:gs pos="22000">
                <a:srgbClr val="DAE6FE"/>
              </a:gs>
              <a:gs pos="100000">
                <a:schemeClr val="bg1"/>
              </a:gs>
              <a:gs pos="4000">
                <a:srgbClr val="2C61CA">
                  <a:alpha val="81961"/>
                </a:srgbClr>
              </a:gs>
              <a:gs pos="0">
                <a:srgbClr val="022D86"/>
              </a:gs>
            </a:gsLst>
            <a:lin ang="10800000" scaled="0"/>
          </a:gradFill>
          <a:ln xmlns:a="http://schemas.openxmlformats.org/drawingml/2006/main" w="12700">
            <a:gradFill>
              <a:gsLst>
                <a:gs pos="0">
                  <a:schemeClr val="bg1">
                    <a:lumMod val="85000"/>
                  </a:schemeClr>
                </a:gs>
                <a:gs pos="37000">
                  <a:srgbClr val="2E529B"/>
                </a:gs>
                <a:gs pos="100000">
                  <a:srgbClr val="022D86"/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2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8933f6752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2575" y="8369"/>
            <a:ext cx="640090" cy="581998"/>
          </a:xfrm>
          <a:prstGeom xmlns:a="http://schemas.openxmlformats.org/drawingml/2006/main" prst="rect">
            <a:avLst/>
          </a:prstGeom>
        </p:spPr>
      </p:pic>
      <p:sp>
        <p:nvSpPr>
          <p:cNvPr id="2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AFD8884-0686-4F03-8C18-EF9B72D2C29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1963" y="1857600"/>
            <a:ext cx="10287072" cy="422889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marR="0" indent="0" algn="l" defTabSz="109728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2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marL="0" marR="0" indent="0" algn="l" defTabSz="109728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0" i="0" u="none" cap="none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单击编辑正文内容</a:t>
            </a:r>
          </a:p>
          <a:p xmlns:a="http://schemas.openxmlformats.org/drawingml/2006/main">
            <a:pPr marL="0" marR="0" indent="0" algn="l" defTabSz="109728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l"/>
            </a:pPr>
            <a:r>
              <a:rPr sz="1920" b="0" i="0" u="none" cap="none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20" b="0" i="0" u="none" cap="none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第一级内容</a:t>
            </a:r>
          </a:p>
          <a:p xmlns:a="http://schemas.openxmlformats.org/drawingml/2006/main">
            <a:pPr marL="0" marR="0" indent="0" algn="l" defTabSz="109728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0" i="0" u="none" cap="none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   - </a:t>
            </a:r>
            <a:r>
              <a:rPr sz="1920" b="0" i="0" u="none" cap="none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第二级内容</a:t>
            </a:r>
          </a:p>
          <a:p xmlns:a="http://schemas.openxmlformats.org/drawingml/2006/main">
            <a:pPr marL="0" marR="0" indent="0" algn="l" defTabSz="109728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>
                <a:ln>
                  <a:noFill/>
                </a:ln>
                <a:solidFill>
                  <a:srgbClr val="4F81BD">
                    <a:lumMod val="75000"/>
                  </a:srgbClr>
                </a:solidFill>
                <a:latin typeface="微软雅黑"/>
                <a:ea typeface="微软雅黑"/>
                <a:cs typeface="微软雅黑"/>
              </a:rPr>
              <a:t>      - </a:t>
            </a:r>
            <a:r>
              <a:rPr sz="1680" b="0" i="0" u="none" cap="none">
                <a:ln>
                  <a:noFill/>
                </a:ln>
                <a:solidFill>
                  <a:srgbClr val="4F81BD">
                    <a:lumMod val="75000"/>
                  </a:srgbClr>
                </a:solidFill>
                <a:latin typeface="微软雅黑"/>
                <a:ea typeface="微软雅黑"/>
                <a:cs typeface="微软雅黑"/>
              </a:rPr>
              <a:t>第三级内容</a:t>
            </a:r>
            <a:r>
              <a:rPr sz="1680" b="0" i="0" u="none" cap="none">
                <a:ln>
                  <a:noFill/>
                </a:ln>
                <a:solidFill>
                  <a:srgbClr val="4F81BD">
                    <a:lumMod val="75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" name="页脚占位符 1">
            <a:extLst xmlns:a="http://schemas.openxmlformats.org/drawingml/2006/main">
              <a:ext uri="{FF2B5EF4-FFF2-40B4-BE49-F238E27FC236}">
                <a16:creationId xmlns:a16="http://schemas.microsoft.com/office/drawing/2014/main" id="{A1483723-72A0-42DE-85DD-BFE7FB9869B3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F9B3D35-3610-445A-9233-7CD633B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6486998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44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fld id="{BA1544B1-D71F-47DF-8A39-5116B0801E0C}" type="slidenum">
              <a:rPr sz="144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76C20913-7181-45ED-8555-8CA80E5E40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3339" y="80801"/>
            <a:ext cx="10287072" cy="527843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400" b="1" cap="all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单击编辑文本标题</a:t>
            </a:r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c71cf2b8534941" /><Relationship Type="http://schemas.openxmlformats.org/officeDocument/2006/relationships/slideLayout" Target="/ppt/slideLayouts/slideLayout1.xml" Id="R456318ecf3534e9b" /><Relationship Type="http://schemas.openxmlformats.org/officeDocument/2006/relationships/slideLayout" Target="/ppt/slideLayouts/slideLayout2.xml" Id="R8fb7983e7a0c431f" /><Relationship Type="http://schemas.openxmlformats.org/officeDocument/2006/relationships/slideLayout" Target="/ppt/slideLayouts/slideLayout3.xml" Id="R77172750a70547d8" /><Relationship Type="http://schemas.openxmlformats.org/officeDocument/2006/relationships/slideLayout" Target="/ppt/slideLayouts/slideLayout4.xml" Id="R29787104834d4bf4" /><Relationship Type="http://schemas.openxmlformats.org/officeDocument/2006/relationships/slideLayout" Target="/ppt/slideLayouts/slideLayout5.xml" Id="R66a520e9bd294b71" /><Relationship Type="http://schemas.openxmlformats.org/officeDocument/2006/relationships/slideLayout" Target="/ppt/slideLayouts/slideLayout6.xml" Id="R6946cfa5dfce49b3" /><Relationship Type="http://schemas.openxmlformats.org/officeDocument/2006/relationships/slideLayout" Target="/ppt/slideLayouts/slideLayout7.xml" Id="Rce2ecbb9577c43c1" /><Relationship Type="http://schemas.openxmlformats.org/officeDocument/2006/relationships/slideLayout" Target="/ppt/slideLayouts/slideLayout8.xml" Id="R33485150f54e40c4" /><Relationship Type="http://schemas.openxmlformats.org/officeDocument/2006/relationships/slideLayout" Target="/ppt/slideLayouts/slideLayout9.xml" Id="R01da101eac6e46ff" /><Relationship Type="http://schemas.openxmlformats.org/officeDocument/2006/relationships/slideLayout" Target="/ppt/slideLayouts/slideLayout10.xml" Id="Rbcbea6f4bc414b0a" /><Relationship Type="http://schemas.openxmlformats.org/officeDocument/2006/relationships/slideLayout" Target="/ppt/slideLayouts/slideLayout11.xml" Id="Rc406e9ca8e8a4110" /><Relationship Type="http://schemas.openxmlformats.org/officeDocument/2006/relationships/slideLayout" Target="/ppt/slideLayouts/slideLayout12.xml" Id="Ra1ca3c5df79a468a" /><Relationship Type="http://schemas.openxmlformats.org/officeDocument/2006/relationships/slideLayout" Target="/ppt/slideLayouts/slideLayout13.xml" Id="Rbd24abd3769248e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6BF98AE-4F64-4D81-B2C9-B9C9C975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98EC828-E359-4A8C-92B9-D0AE7E37C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32695"/>
            <a:ext cx="10515600" cy="1325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9C4B54-C93C-4652-874D-EDB532CBEB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0863"/>
            <a:ext cx="10515600" cy="4351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05ADFD-37E0-4B4A-8534-59AE1462BF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53486" y="6356350"/>
            <a:ext cx="700314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37A9598-6120-4236-B6F1-72B502AB372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318ecf3534e9b"/>
    <p:sldLayoutId xmlns:r="http://schemas.openxmlformats.org/officeDocument/2006/relationships" id="2147483650" r:id="R8fb7983e7a0c431f"/>
    <p:sldLayoutId xmlns:r="http://schemas.openxmlformats.org/officeDocument/2006/relationships" id="2147483651" r:id="R77172750a70547d8"/>
    <p:sldLayoutId xmlns:r="http://schemas.openxmlformats.org/officeDocument/2006/relationships" id="2147483652" r:id="R29787104834d4bf4"/>
    <p:sldLayoutId xmlns:r="http://schemas.openxmlformats.org/officeDocument/2006/relationships" id="2147483653" r:id="R66a520e9bd294b71"/>
    <p:sldLayoutId xmlns:r="http://schemas.openxmlformats.org/officeDocument/2006/relationships" id="2147483654" r:id="R6946cfa5dfce49b3"/>
    <p:sldLayoutId xmlns:r="http://schemas.openxmlformats.org/officeDocument/2006/relationships" id="2147483655" r:id="Rce2ecbb9577c43c1"/>
    <p:sldLayoutId xmlns:r="http://schemas.openxmlformats.org/officeDocument/2006/relationships" id="2147483656" r:id="R33485150f54e40c4"/>
    <p:sldLayoutId xmlns:r="http://schemas.openxmlformats.org/officeDocument/2006/relationships" id="2147483657" r:id="R01da101eac6e46ff"/>
    <p:sldLayoutId xmlns:r="http://schemas.openxmlformats.org/officeDocument/2006/relationships" id="2147483658" r:id="Rbcbea6f4bc414b0a"/>
    <p:sldLayoutId xmlns:r="http://schemas.openxmlformats.org/officeDocument/2006/relationships" id="2147483659" r:id="Rc406e9ca8e8a4110"/>
    <p:sldLayoutId xmlns:r="http://schemas.openxmlformats.org/officeDocument/2006/relationships" id="2147483660" r:id="Ra1ca3c5df79a468a"/>
    <p:sldLayoutId xmlns:r="http://schemas.openxmlformats.org/officeDocument/2006/relationships" id="2147483661" r:id="Rbd24abd3769248e2"/>
  </p:sldLayoutIdLst>
  <p:txStyles>
    <p:titleStyle>
      <a:lvl1pPr xmlns:a="http://schemas.openxmlformats.org/drawingml/2006/main" algn="l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8000"/>
                <a:satMod val="103000"/>
              </a:schemeClr>
            </a:gs>
            <a:gs pos="50000">
              <a:schemeClr val="phClr">
                <a:lumMod val="91000"/>
                <a:satMod val="89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10c9085fe454c20" /><Relationship Type="http://schemas.openxmlformats.org/officeDocument/2006/relationships/notesSlide" Target="/ppt/notesSlides/notesSlide1.xml" Id="R1e598e1c992a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ec066914c554952" /><Relationship Type="http://schemas.openxmlformats.org/officeDocument/2006/relationships/notesSlide" Target="/ppt/notesSlides/notesSlide2.xml" Id="Ra38bc3bf65c645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7E4F8B0-66D4-6ED2-63DA-A4D1658D9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传感器故障测试：V2降低CAN依赖，但基础精度仍不足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50BE784-B96E-32BB-5F8A-29918B94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2" y="782036"/>
            <a:ext cx="11692107" cy="5925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5531F94-B788-BD49-A54B-697D61E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88" y="798055"/>
            <a:ext cx="4849867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1">
                <a:solidFill>
                  <a:srgbClr val="005BAA"/>
                </a:solidFill>
                <a:latin typeface="微软雅黑"/>
                <a:ea typeface="微软雅黑"/>
                <a:cs typeface="微软雅黑"/>
              </a:rPr>
              <a:t>同样本故障测试（257 token / 38场景）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42C219E-35CF-A328-E5EB-CB0C2A82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6" y="782036"/>
            <a:ext cx="121752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/>
              <a:buChar char="u"/>
            </a:pPr>
          </a:p>
        </p:txBody>
      </p:sp>
      <p:graphicFrame>
        <p:nvGraphicFramePr>
          <p:cNvPr id="82" name="表格 71"/>
          <p:cNvGraphicFramePr/>
          <p:nvPr/>
        </p:nvGraphicFramePr>
        <p:xfrm>
          <a:off xmlns:a="http://schemas.openxmlformats.org/drawingml/2006/main" x="547666" y="1283337"/>
          <a:ext xmlns:a="http://schemas.openxmlformats.org/drawingml/2006/main" cx="7299892" cy="2209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73"/>
                <a:gridCol w="1824973"/>
                <a:gridCol w="1824973"/>
                <a:gridCol w="1824973"/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工况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旧版 EPE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新版 EPE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91440" marR="91440" marT="45720" marB="45720" anchor="ctr"/>
                </a:tc>
              </a:tr>
              <a:tr h="393898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clean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0.081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1.021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基础精度不足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CAN 全缺失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5.043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1.367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降低 72.9%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轮速 × 0.9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0.092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1.021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无明确增益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相机全缺失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0.083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7.961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fallback 失效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graphicFrame>
        <p:nvGraphicFramePr>
          <p:cNvPr id="83" name="表格 73"/>
          <p:cNvGraphicFramePr/>
          <p:nvPr/>
        </p:nvGraphicFramePr>
        <p:xfrm>
          <a:off xmlns:a="http://schemas.openxmlformats.org/drawingml/2006/main" x="547666" y="3820410"/>
          <a:ext xmlns:a="http://schemas.openxmlformats.org/drawingml/2006/main" cx="7299892" cy="1320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73"/>
                <a:gridCol w="1824973"/>
                <a:gridCol w="1824973"/>
                <a:gridCol w="1824973"/>
              </a:tblGrid>
              <a:tr h="370840">
                <a:tc rowSpan="2"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V2 结构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视觉几何主线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弱运动学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速度输出</a:t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图像/RAFT → IRLS几何 → 视觉残差 → GRU修正 → vx, vy</a:t>
                      </a:r>
                    </a:p>
                  </a:txBody>
                  <a:tcPr marL="91440" marR="91440" marT="45720" marB="45720" anchor="ctr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关键约束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latin typeface="微软雅黑"/>
                          <a:ea typeface="微软雅黑"/>
                          <a:cs typeface="微软雅黑"/>
                        </a:rPr>
                        <a:t>轮速仅作限幅尺度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残差≤[1.0, 0.5]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latin typeface="微软雅黑"/>
                          <a:ea typeface="微软雅黑"/>
                          <a:cs typeface="微软雅黑"/>
                        </a:rPr>
                        <a:t>当前未含动力学</a:t>
                      </a:r>
                    </a:p>
                  </a:txBody>
                  <a:tcPr marL="57150" marR="57150" marT="31750" marB="31750"/>
                </a:tc>
              </a:tr>
            </a:tbl>
          </a:graphicData>
        </a:graphic>
      </p:graphicFrame>
      <p:sp>
        <p:nvSpPr>
          <p:cNvPr id="75" name="文本框 74">
            <a:extLst xmlns:a="http://schemas.openxmlformats.org/drawingml/2006/main">
              <a:ext uri="{FF2B5EF4-FFF2-40B4-BE49-F238E27FC236}">
                <a16:creationId xmlns:a16="http://schemas.microsoft.com/office/drawing/2014/main" id="{145E774C-50C9-4FA6-3B8B-EDE2EC98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816" y="1744564"/>
            <a:ext cx="3671518" cy="3687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30000"/>
              </a:lnSpc>
              <a:buNone/>
              <a:def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rPr>
              <a:t>旧版底盘捷径明显：CAN缺失崩溃；相机缺失几乎不变</a:t>
            </a:r>
          </a:p>
          <a:p xmlns:a="http://schemas.openxmlformats.org/drawingml/2006/main">
            <a:pPr marL="18" indent="-12" algn="l">
              <a:lnSpc>
                <a:spcPct val="130000"/>
              </a:lnSpc>
              <a:buNone/>
              <a:def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B3B3B"/>
                </a:solidFill>
                <a:latin typeface="微软雅黑"/>
                <a:ea typeface="微软雅黑"/>
                <a:cs typeface="微软雅黑"/>
              </a:rPr>
              <a:t>V2的CAN缺失EPE降低72.9%，</a:t>
            </a:r>
            <a:r>
              <a: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rPr>
              <a:t>降低CAN依赖有效</a:t>
            </a:r>
          </a:p>
          <a:p xmlns:a="http://schemas.openxmlformats.org/drawingml/2006/main">
            <a:pPr marL="18" indent="-12" algn="l">
              <a:lnSpc>
                <a:spcPct val="130000"/>
              </a:lnSpc>
              <a:buNone/>
              <a:def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rPr>
              <a:t>但clean精度下降；相机缺失fallback仍失效</a:t>
            </a:r>
          </a:p>
          <a:p xmlns:a="http://schemas.openxmlformats.org/drawingml/2006/main">
            <a:pPr marL="18" indent="-12" algn="l">
              <a:lnSpc>
                <a:spcPct val="130000"/>
              </a:lnSpc>
              <a:buNone/>
              <a:def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3B3B3B"/>
                </a:solidFill>
                <a:latin typeface="微软雅黑"/>
                <a:ea typeface="微软雅黑"/>
                <a:cs typeface="微软雅黑"/>
              </a:rPr>
              <a:t>动力学未完成并非唯一原因：旧版代理仅提升约2.5%</a:t>
            </a:r>
          </a:p>
        </p:txBody>
      </p:sp>
    </p:spTree>
    <p:extLst>
      <p:ext uri="{BB962C8B-B14F-4D97-AF65-F5344CB8AC3E}">
        <p14:creationId xmlns:p14="http://schemas.microsoft.com/office/powerpoint/2010/main" val="42063777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7E4F8B0-66D4-6ED2-63DA-A4D1658D9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下一步：补齐动力学分支并完成最终融合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4BCB920-29B7-8631-37CE-E670ABE0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2" y="782036"/>
            <a:ext cx="11692107" cy="5925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4CCDE50-1735-3B39-CA00-C7D5EC82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88" y="798055"/>
            <a:ext cx="4849867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005BAA"/>
                </a:solidFill>
                <a:latin typeface="微软雅黑"/>
                <a:ea typeface="微软雅黑"/>
                <a:cs typeface="微软雅黑"/>
              </a:rPr>
              <a:t>实施路线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A74BE8-6386-3144-EFEC-0A6458A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6" y="782036"/>
            <a:ext cx="121752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/>
              <a:buChar char="u"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3B9EC86-A0BF-6461-BFA9-5D71524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43" y="1248632"/>
            <a:ext cx="10941272" cy="495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  <a:buNone/>
            </a:pPr>
            <a:r>
              <a:rPr b="1">
                <a:solidFill>
                  <a:srgbClr val="005BAA"/>
                </a:solidFill>
              </a:rPr>
              <a:t>1  修复已知缺陷</a:t>
            </a:r>
          </a:p>
          <a:p xmlns:a="http://schemas.openxmlformats.org/drawingml/2006/main">
            <a:pPr>
              <a:spcAft>
                <a:spcPts val="10"/>
              </a:spcAft>
              <a:buNone/>
            </a:pPr>
            <a:r>
              <a:t>相机缺失时fallback必须接管最终输出；解除轮速尺度0.85饱和；核查yaw补偿与时间对齐。</a:t>
            </a:r>
          </a:p>
          <a:p xmlns:a="http://schemas.openxmlformats.org/drawingml/2006/main">
            <a:pPr>
              <a:spcAft>
                <a:spcPts val="3"/>
              </a:spcAft>
              <a:buNone/>
            </a:pPr>
            <a:r>
              <a:rPr b="1">
                <a:solidFill>
                  <a:srgbClr val="005BAA"/>
                </a:solidFill>
              </a:rPr>
              <a:t>2  训练动力学教师/学生</a:t>
            </a:r>
          </a:p>
          <a:p xmlns:a="http://schemas.openxmlformats.org/drawingml/2006/main">
            <a:pPr>
              <a:spcAft>
                <a:spcPts val="10"/>
              </a:spcAft>
              <a:buNone/>
            </a:pPr>
            <a:r>
              <a:t>用CarSim/高保真仿真覆盖圆周、蛇形、双移线、制动转向及多附着/载荷；教师学习侧偏、横摆与轮胎状态并蒸馏为有界轻量学生分支。</a:t>
            </a:r>
          </a:p>
          <a:p xmlns:a="http://schemas.openxmlformats.org/drawingml/2006/main">
            <a:pPr>
              <a:spcAft>
                <a:spcPts val="3"/>
              </a:spcAft>
              <a:buNone/>
            </a:pPr>
            <a:r>
              <a:rPr b="1">
                <a:solidFill>
                  <a:srgbClr val="005BAA"/>
                </a:solidFill>
              </a:rPr>
              <a:t>3  完成融合训练与验证</a:t>
            </a:r>
          </a:p>
          <a:p xmlns:a="http://schemas.openxmlformats.org/drawingml/2006/main">
            <a:pPr>
              <a:spcAft>
                <a:spcPts val="12"/>
              </a:spcAft>
              <a:buNone/>
            </a:pPr>
            <a:r>
              <a:t>采集严格同步、完成空间标定的图像、IMU、转向、四轮轮速、踏板和动力学参考；训练融合门控并整体微调，最终用独立实车数据、多seed和分级故障验证。</a:t>
            </a:r>
          </a:p>
          <a:p xmlns:a="http://schemas.openxmlformats.org/drawingml/2006/main">
            <a:pPr>
              <a:buNone/>
            </a:pPr>
            <a:r>
              <a:rPr b="1"/>
              <a:t>当前阶段：</a:t>
            </a:r>
            <a:r>
              <a:t>nuScenes视觉+弱运动学EPE为0.645，相比visual的0.723降低10.8%（seed42）；动力学分支与最终融合尚未训练。</a:t>
            </a:r>
          </a:p>
        </p:txBody>
      </p:sp>
    </p:spTree>
    <p:extLst>
      <p:ext uri="{BB962C8B-B14F-4D97-AF65-F5344CB8AC3E}">
        <p14:creationId xmlns:p14="http://schemas.microsoft.com/office/powerpoint/2010/main" val="2495187175"/>
      </p:ext>
    </p:extLst>
  </p:cSld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8000"/>
                <a:satMod val="103000"/>
              </a:schemeClr>
            </a:gs>
            <a:gs pos="50000">
              <a:schemeClr val="phClr">
                <a:lumMod val="91000"/>
                <a:satMod val="89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2026-07-20T01:03:24.1350000Z</dcterms:created>
  <dcterms:modified xsi:type="dcterms:W3CDTF">2026-07-20T01:03:24.1350000Z</dcterms:modified>
</coreProperties>
</file>